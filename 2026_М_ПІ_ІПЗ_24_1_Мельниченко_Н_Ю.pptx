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1" r:id="rId12"/>
    <p:sldId id="272" r:id="rId13"/>
    <p:sldId id="273" r:id="rId14"/>
    <p:sldId id="274" r:id="rId15"/>
    <p:sldId id="275" r:id="rId16"/>
    <p:sldId id="270" r:id="rId17"/>
    <p:sldId id="268" r:id="rId18"/>
    <p:sldId id="269" r:id="rId19"/>
  </p:sldIdLst>
  <p:sldSz cx="9144000" cy="5143500" type="screen16x9"/>
  <p:notesSz cx="6858000" cy="9144000"/>
  <p:embeddedFontLst>
    <p:embeddedFont>
      <p:font typeface="Economica" panose="02000506040000020004"/>
      <p:regular r:id="rId21"/>
      <p:bold r:id="rId22"/>
      <p:italic r:id="rId23"/>
      <p:boldItalic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5" autoAdjust="0"/>
    <p:restoredTop sz="91438"/>
  </p:normalViewPr>
  <p:slideViewPr>
    <p:cSldViewPr snapToGrid="0">
      <p:cViewPr varScale="1">
        <p:scale>
          <a:sx n="154" d="100"/>
          <a:sy n="154" d="100"/>
        </p:scale>
        <p:origin x="600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97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A2FAF6-65E2-453E-9331-515706673DF2}" type="datetimeFigureOut">
              <a:rPr lang="en-US" smtClean="0"/>
              <a:t>5/11/26</a:t>
            </a:fld>
            <a:endParaRPr lang="en-US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1589B-0161-40B7-818B-651F43686C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192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81589B-0161-40B7-818B-651F43686C2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772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81589B-0161-40B7-818B-651F43686C2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540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о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762383" y="843018"/>
            <a:ext cx="3821297" cy="1891773"/>
          </a:xfrm>
        </p:spPr>
        <p:txBody>
          <a:bodyPr>
            <a:noAutofit/>
          </a:bodyPr>
          <a:lstStyle/>
          <a:p>
            <a:pPr algn="l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Дослідження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методів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оптимізації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доступу до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високонавантажених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інформаційних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системах на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базі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Framework Core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62383" y="3116580"/>
            <a:ext cx="3600579" cy="1242920"/>
          </a:xfrm>
        </p:spPr>
        <p:txBody>
          <a:bodyPr>
            <a:noAutofit/>
          </a:bodyPr>
          <a:lstStyle/>
          <a:p>
            <a:pPr marL="0" lvl="0" indent="0" algn="r"/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Виконав:</a:t>
            </a:r>
            <a:b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зд</a:t>
            </a:r>
            <a:r>
              <a:rPr lang="uk-UA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гр.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ІПЗм-24-1 Мельниченко Н. Ю.</a:t>
            </a:r>
          </a:p>
          <a:p>
            <a:pPr marL="0" lvl="0" indent="0" algn="r"/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Керівник:</a:t>
            </a:r>
          </a:p>
          <a:p>
            <a:pPr marL="0" lvl="0" indent="0" algn="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каф. ПІ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Голян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В. В.</a:t>
            </a:r>
          </a:p>
        </p:txBody>
      </p:sp>
      <p:pic>
        <p:nvPicPr>
          <p:cNvPr id="4" name="Google Shape;6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6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1918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Актуальність дослідження</a:t>
            </a:r>
            <a:endParaRPr lang="en-US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Rectangle 7">
            <a:extLst>
              <a:ext uri="{FF2B5EF4-FFF2-40B4-BE49-F238E27FC236}">
                <a16:creationId xmlns:a16="http://schemas.microsoft.com/office/drawing/2014/main" id="{F3CAE31C-ED67-BF4C-D7DD-66AB4C99A9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150929"/>
            <a:ext cx="7085594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Стрімке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зростання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обсягів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даних</a:t>
            </a:r>
            <a:r>
              <a:rPr lang="uk-UA" altLang="en-US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Обсяг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цифрових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даних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світі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kumimoji="0" lang="uk-UA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подвоюється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кожні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два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роки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Критичність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часу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відгуку</a:t>
            </a:r>
            <a:r>
              <a:rPr lang="uk-UA" altLang="en-US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Затримки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звернень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бази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даних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формують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kumimoji="0" lang="uk-UA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основну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частину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часу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відгуку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інформаційної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системи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Обмеження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стандартних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інструментів</a:t>
            </a:r>
            <a:r>
              <a:rPr kumimoji="0" lang="uk-UA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Стандартне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використання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kumimoji="0" lang="uk-UA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Entity Framework Core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умовах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високих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навантажень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породжує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проблеми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kumimoji="0" lang="uk-UA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продуктивності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uk-UA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Головна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проблематика</a:t>
            </a:r>
            <a:r>
              <a:rPr lang="uk-UA" altLang="en-US" sz="1400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Відсутність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формалізованого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підходу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порівняння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kumimoji="0" lang="uk-UA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методів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оптимізації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єдиною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системою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критеріїв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090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Мета та завдання роботи</a:t>
            </a:r>
            <a:endParaRPr lang="en-US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12577877-C496-EF69-68DD-39FD7658ED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150" y="1022698"/>
            <a:ext cx="837921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Мета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роботи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підвищення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обґрунтованості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вибору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методу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оптимізації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доступу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даних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високонавантажених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інформаційних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системах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базі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Entity Framework Core.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Завдання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дослідження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Аналіз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предметної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галузі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виявлення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типових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проблем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продуктивності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Систематизація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методів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оптимізації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EF Core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формування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критеріїв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їх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оцінювання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Проведення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багатокритеріального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аналізу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побудови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теоретичного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ранжиру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методів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Розробка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архітектури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реалізація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програмної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системи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базі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фінансової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моделі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Проведення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мікробенчмарків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навантажувального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тестування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Зіставлення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результатів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формування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уточнених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рекомендацій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розробників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42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700" y="31900"/>
            <a:ext cx="8520600" cy="831300"/>
          </a:xfrm>
        </p:spPr>
        <p:txBody>
          <a:bodyPr>
            <a:normAutofit/>
          </a:bodyPr>
          <a:lstStyle/>
          <a:p>
            <a:r>
              <a:rPr lang="ru-RU" sz="3200" dirty="0" err="1"/>
              <a:t>Аналіз</a:t>
            </a:r>
            <a:r>
              <a:rPr lang="ru-RU" sz="3200" dirty="0"/>
              <a:t> </a:t>
            </a:r>
            <a:r>
              <a:rPr lang="ru-RU" sz="3200" dirty="0" err="1"/>
              <a:t>методів</a:t>
            </a:r>
            <a:r>
              <a:rPr lang="ru-RU" sz="3200" dirty="0"/>
              <a:t> </a:t>
            </a:r>
            <a:r>
              <a:rPr lang="ru-RU" sz="3200" dirty="0" err="1"/>
              <a:t>оптимізації</a:t>
            </a:r>
            <a:r>
              <a:rPr lang="ru-RU" sz="3200" dirty="0"/>
              <a:t> </a:t>
            </a:r>
            <a:r>
              <a:rPr lang="en-US" sz="3200" dirty="0"/>
              <a:t>Entity Framework Core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B6476052-AF99-28C5-B127-F5D7A6E6FB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5760" y="766044"/>
            <a:ext cx="8688908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Конвеєр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виконання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запиту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(Query Pipeline):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п’ять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етапів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побудови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дерева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виразів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матеріалізації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об’єктів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Механізм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Change Tracking: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накладні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витрати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створення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«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знімків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» (snapshots)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стану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подвійне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використання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пам’яті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Алгоритмічна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складність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процес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DetectChanges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()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має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складність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 (N * M)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що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критично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  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великих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вибірок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Класифікація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досліджуваних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проблем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Проблема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N+1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запитів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декартового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добутку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Повторювана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компіляція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LINQ-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виразів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Неефективні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масові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вставки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даних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uk-UA" sz="1400" dirty="0"/>
              <a:t>Відсутність </a:t>
            </a:r>
            <a:r>
              <a:rPr lang="uk-UA" sz="1400" dirty="0" err="1"/>
              <a:t>кешування</a:t>
            </a:r>
            <a:r>
              <a:rPr lang="uk-UA" sz="1400" dirty="0"/>
              <a:t> результатів аналітики.</a:t>
            </a:r>
            <a:endParaRPr lang="en-US" altLang="en-US" sz="1400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020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35082" y="6899"/>
            <a:ext cx="9414163" cy="831300"/>
          </a:xfrm>
        </p:spPr>
        <p:txBody>
          <a:bodyPr>
            <a:noAutofit/>
          </a:bodyPr>
          <a:lstStyle/>
          <a:p>
            <a:pPr algn="ctr"/>
            <a:r>
              <a:rPr lang="ru-RU" sz="3600" dirty="0" err="1"/>
              <a:t>Моделювання</a:t>
            </a:r>
            <a:r>
              <a:rPr lang="ru-RU" sz="3600" dirty="0"/>
              <a:t> </a:t>
            </a:r>
            <a:r>
              <a:rPr lang="ru-RU" sz="3600" dirty="0" err="1"/>
              <a:t>предметної</a:t>
            </a:r>
            <a:r>
              <a:rPr lang="ru-RU" sz="3600" dirty="0"/>
              <a:t> </a:t>
            </a:r>
            <a:r>
              <a:rPr lang="ru-RU" sz="3600" dirty="0" err="1"/>
              <a:t>області</a:t>
            </a:r>
            <a:endParaRPr lang="en-US" sz="36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0965" y="736777"/>
            <a:ext cx="4304637" cy="3716025"/>
          </a:xfrm>
        </p:spPr>
        <p:txBody>
          <a:bodyPr>
            <a:noAutofit/>
          </a:bodyPr>
          <a:lstStyle/>
          <a:p>
            <a:pPr marL="114300" indent="0">
              <a:lnSpc>
                <a:spcPct val="160000"/>
              </a:lnSpc>
              <a:buNone/>
            </a:pPr>
            <a:r>
              <a:rPr lang="uk-UA" sz="1100" dirty="0"/>
              <a:t>Для дослідження обрано предметну область системи фінансового моніторингу та управління банківськими операціями.</a:t>
            </a:r>
          </a:p>
          <a:p>
            <a:pPr marL="114300" indent="0">
              <a:lnSpc>
                <a:spcPct val="100000"/>
              </a:lnSpc>
              <a:buNone/>
            </a:pPr>
            <a:endParaRPr lang="uk-UA" sz="1100" dirty="0"/>
          </a:p>
          <a:p>
            <a:pPr marL="114300" indent="0">
              <a:lnSpc>
                <a:spcPct val="160000"/>
              </a:lnSpc>
              <a:buNone/>
            </a:pPr>
            <a:r>
              <a:rPr lang="uk-UA" sz="1100" dirty="0"/>
              <a:t>Особливості предметної області:</a:t>
            </a:r>
          </a:p>
          <a:p>
            <a:pPr>
              <a:lnSpc>
                <a:spcPct val="160000"/>
              </a:lnSpc>
            </a:pPr>
            <a:r>
              <a:rPr lang="uk-UA" sz="1100" dirty="0"/>
              <a:t>висока частота змін даних у таблицях </a:t>
            </a:r>
            <a:r>
              <a:rPr lang="en-US" sz="1100" dirty="0"/>
              <a:t>Transactions </a:t>
            </a:r>
            <a:r>
              <a:rPr lang="uk-UA" sz="1100" dirty="0"/>
              <a:t>та </a:t>
            </a:r>
            <a:r>
              <a:rPr lang="en-US" sz="1100" dirty="0"/>
              <a:t>Accounts;</a:t>
            </a:r>
          </a:p>
          <a:p>
            <a:pPr>
              <a:lnSpc>
                <a:spcPct val="160000"/>
              </a:lnSpc>
            </a:pPr>
            <a:r>
              <a:rPr lang="uk-UA" sz="1100" dirty="0"/>
              <a:t>критичність обробки великих масивів (1 млн+ записів) для бізнес-аналітики;</a:t>
            </a:r>
          </a:p>
          <a:p>
            <a:pPr>
              <a:lnSpc>
                <a:spcPct val="160000"/>
              </a:lnSpc>
            </a:pPr>
            <a:r>
              <a:rPr lang="uk-UA" sz="1100" dirty="0"/>
              <a:t>розгалужена структура </a:t>
            </a:r>
            <a:r>
              <a:rPr lang="uk-UA" sz="1100" dirty="0" err="1"/>
              <a:t>зв’язків</a:t>
            </a:r>
            <a:r>
              <a:rPr lang="uk-UA" sz="1100" dirty="0"/>
              <a:t> між клієнтами, рахунками та звітами;</a:t>
            </a:r>
          </a:p>
          <a:p>
            <a:pPr>
              <a:lnSpc>
                <a:spcPct val="160000"/>
              </a:lnSpc>
            </a:pPr>
            <a:r>
              <a:rPr lang="uk-UA" sz="1100" dirty="0"/>
              <a:t>необхідність підтримки цілісності при масових операціях (нарахування відсотків).</a:t>
            </a:r>
          </a:p>
          <a:p>
            <a:pPr>
              <a:lnSpc>
                <a:spcPct val="160000"/>
              </a:lnSpc>
            </a:pPr>
            <a:endParaRPr lang="en-US" sz="11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421BEB-DC81-DF84-4A1E-8B6809E9D816}"/>
              </a:ext>
            </a:extLst>
          </p:cNvPr>
          <p:cNvSpPr txBox="1"/>
          <p:nvPr/>
        </p:nvSpPr>
        <p:spPr>
          <a:xfrm>
            <a:off x="4851321" y="4706128"/>
            <a:ext cx="398203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Рисунок 1 - </a:t>
            </a:r>
            <a:r>
              <a:rPr lang="en-US" dirty="0"/>
              <a:t>ER</a:t>
            </a:r>
            <a:r>
              <a:rPr lang="ru-RU" dirty="0"/>
              <a:t>-</a:t>
            </a:r>
            <a:r>
              <a:rPr lang="uk-UA" dirty="0"/>
              <a:t>діаграма предметної області</a:t>
            </a:r>
          </a:p>
        </p:txBody>
      </p:sp>
      <p:pic>
        <p:nvPicPr>
          <p:cNvPr id="7" name="Рисунок 1685993991">
            <a:extLst>
              <a:ext uri="{FF2B5EF4-FFF2-40B4-BE49-F238E27FC236}">
                <a16:creationId xmlns:a16="http://schemas.microsoft.com/office/drawing/2014/main" id="{16E03FD5-0B2B-0FE4-4349-178E334455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 bwMode="auto">
          <a:xfrm>
            <a:off x="4405601" y="1234441"/>
            <a:ext cx="4648645" cy="248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42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" y="138544"/>
            <a:ext cx="8649420" cy="581749"/>
          </a:xfrm>
        </p:spPr>
        <p:txBody>
          <a:bodyPr>
            <a:noAutofit/>
          </a:bodyPr>
          <a:lstStyle/>
          <a:p>
            <a:pPr algn="ctr"/>
            <a:r>
              <a:rPr lang="ru-RU" sz="3600" dirty="0"/>
              <a:t>Постановка </a:t>
            </a:r>
            <a:r>
              <a:rPr lang="ru-RU" sz="3600" dirty="0" err="1"/>
              <a:t>задачі</a:t>
            </a:r>
            <a:r>
              <a:rPr lang="ru-RU" sz="3600" dirty="0"/>
              <a:t> та </a:t>
            </a:r>
            <a:r>
              <a:rPr lang="ru-RU" sz="3600" dirty="0" err="1"/>
              <a:t>вимоги</a:t>
            </a:r>
            <a:r>
              <a:rPr lang="ru-RU" sz="3600" dirty="0"/>
              <a:t> до </a:t>
            </a:r>
            <a:r>
              <a:rPr lang="ru-RU" sz="3600" dirty="0" err="1"/>
              <a:t>системи</a:t>
            </a:r>
            <a:endParaRPr lang="en-US" sz="3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933725-622C-F142-60B6-FBF17240F9CA}"/>
              </a:ext>
            </a:extLst>
          </p:cNvPr>
          <p:cNvSpPr txBox="1"/>
          <p:nvPr/>
        </p:nvSpPr>
        <p:spPr>
          <a:xfrm>
            <a:off x="175185" y="1135380"/>
            <a:ext cx="8183955" cy="2643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 досягнення мети дослідження було спроєктовано систему, що відповідає наступним вимогам: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реалізація 7 стратегій доступу (від базового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EF Core 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Bulk-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операцій) в межах єдиного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API;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підтримка 4 бізнес-сценаріїв для перевірки різних типів навантаження;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вимірювання швидкості (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Latency) 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 пам'яті (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Memory) 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 допомогою професійних інструментів;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ідентичність результатів вибірки незалежно від обраного методу оптимізації.</a:t>
            </a:r>
          </a:p>
        </p:txBody>
      </p:sp>
    </p:spTree>
    <p:extLst>
      <p:ext uri="{BB962C8B-B14F-4D97-AF65-F5344CB8AC3E}">
        <p14:creationId xmlns:p14="http://schemas.microsoft.com/office/powerpoint/2010/main" val="2821099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700" y="393925"/>
            <a:ext cx="8520600" cy="831300"/>
          </a:xfrm>
        </p:spPr>
        <p:txBody>
          <a:bodyPr>
            <a:noAutofit/>
          </a:bodyPr>
          <a:lstStyle/>
          <a:p>
            <a:pPr algn="ctr"/>
            <a:r>
              <a:rPr lang="uk-UA" sz="3600" dirty="0"/>
              <a:t>Багатокритеріальний аналіз (Теоретичний рейтинг)</a:t>
            </a:r>
            <a:endParaRPr lang="en-US" sz="36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11700" y="1225226"/>
            <a:ext cx="8253180" cy="2061058"/>
          </a:xfrm>
        </p:spPr>
        <p:txBody>
          <a:bodyPr>
            <a:normAutofit fontScale="92500"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uk-UA" sz="1400" dirty="0"/>
              <a:t>Перед проведенням експериментів було виконано теоретичне ранжування обраних методів:</a:t>
            </a:r>
          </a:p>
          <a:p>
            <a:pPr>
              <a:lnSpc>
                <a:spcPct val="150000"/>
              </a:lnSpc>
            </a:pPr>
            <a:r>
              <a:rPr lang="uk-UA" sz="1400" dirty="0"/>
              <a:t>методологія: застосовано лінійну адитивну згортку критеріїв;</a:t>
            </a:r>
          </a:p>
          <a:p>
            <a:pPr>
              <a:lnSpc>
                <a:spcPct val="150000"/>
              </a:lnSpc>
            </a:pPr>
            <a:r>
              <a:rPr lang="uk-UA" sz="1400" dirty="0"/>
              <a:t>критерії оцінки: швидкість, масштабованість, економія пам'яті та складність впровадження;</a:t>
            </a:r>
          </a:p>
          <a:p>
            <a:pPr>
              <a:lnSpc>
                <a:spcPct val="150000"/>
              </a:lnSpc>
            </a:pPr>
            <a:r>
              <a:rPr lang="uk-UA" sz="1400" dirty="0"/>
              <a:t>результати: найвищий бал отримали </a:t>
            </a:r>
            <a:r>
              <a:rPr lang="en-US" sz="1400" dirty="0"/>
              <a:t>Bulk Operations (0.834) </a:t>
            </a:r>
            <a:r>
              <a:rPr lang="uk-UA" sz="1400" dirty="0"/>
              <a:t>та </a:t>
            </a:r>
            <a:r>
              <a:rPr lang="en-US" sz="1400" dirty="0" err="1"/>
              <a:t>AsNoTracking</a:t>
            </a:r>
            <a:r>
              <a:rPr lang="en-US" sz="1400" dirty="0"/>
              <a:t> (0.809);</a:t>
            </a:r>
          </a:p>
          <a:p>
            <a:pPr>
              <a:lnSpc>
                <a:spcPct val="150000"/>
              </a:lnSpc>
            </a:pPr>
            <a:r>
              <a:rPr lang="uk-UA" sz="1400" dirty="0"/>
              <a:t>гіпотеза: саме ці методи мають показати найкращі результати при роботі з мільйонами записів.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57F1749-9F15-F22A-1BD4-53FAA2C17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115303"/>
              </p:ext>
            </p:extLst>
          </p:nvPr>
        </p:nvGraphicFramePr>
        <p:xfrm>
          <a:off x="2777808" y="3295968"/>
          <a:ext cx="5969000" cy="13769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129877993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56847618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7858946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uk-UA" sz="1400">
                          <a:effectLst/>
                        </a:rPr>
                        <a:t>Альтернатива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uk-UA" sz="1400" dirty="0">
                          <a:effectLst/>
                        </a:rPr>
                        <a:t>Корисність </a:t>
                      </a:r>
                      <a:r>
                        <a:rPr lang="uk-UA" sz="1400" dirty="0" err="1">
                          <a:effectLst/>
                        </a:rPr>
                        <a:t>Z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uk-UA" sz="1400">
                          <a:effectLst/>
                        </a:rPr>
                        <a:t>Ранг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448156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uk-UA" sz="1400" dirty="0" err="1">
                          <a:effectLst/>
                        </a:rPr>
                        <a:t>Bulk</a:t>
                      </a:r>
                      <a:r>
                        <a:rPr lang="uk-UA" sz="1400" dirty="0">
                          <a:effectLst/>
                        </a:rPr>
                        <a:t> </a:t>
                      </a:r>
                      <a:r>
                        <a:rPr lang="uk-UA" sz="1400" dirty="0" err="1">
                          <a:effectLst/>
                        </a:rPr>
                        <a:t>Operations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uk-UA" sz="1400">
                          <a:effectLst/>
                        </a:rPr>
                        <a:t>0.834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uk-UA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1603466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uk-UA" sz="1400">
                          <a:effectLst/>
                        </a:rPr>
                        <a:t>No-Tracking Queries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uk-UA" sz="1400">
                          <a:effectLst/>
                        </a:rPr>
                        <a:t>0.809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uk-UA" sz="14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186895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uk-UA" sz="1400">
                          <a:effectLst/>
                        </a:rPr>
                        <a:t>Raw SQL Queries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uk-UA" sz="1400">
                          <a:effectLst/>
                        </a:rPr>
                        <a:t>0.739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uk-UA" sz="14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430439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uk-UA" sz="1400">
                          <a:effectLst/>
                        </a:rPr>
                        <a:t>Compiled Queries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uk-UA" sz="1400">
                          <a:effectLst/>
                        </a:rPr>
                        <a:t>0.643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uk-UA" sz="1400">
                          <a:effectLst/>
                        </a:rPr>
                        <a:t>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411937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uk-UA" sz="1400">
                          <a:effectLst/>
                        </a:rPr>
                        <a:t>Second-Level Caching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uk-UA" sz="1400">
                          <a:effectLst/>
                        </a:rPr>
                        <a:t>0.477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uk-UA" sz="1400" dirty="0">
                          <a:effectLst/>
                        </a:rPr>
                        <a:t>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extLst>
                  <a:ext uri="{0D108BD9-81ED-4DB2-BD59-A6C34878D82A}">
                    <a16:rowId xmlns:a16="http://schemas.microsoft.com/office/drawing/2014/main" val="303031311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FDDE2F9-609E-EFE7-0845-10B1F2073E35}"/>
              </a:ext>
            </a:extLst>
          </p:cNvPr>
          <p:cNvSpPr txBox="1"/>
          <p:nvPr/>
        </p:nvSpPr>
        <p:spPr>
          <a:xfrm>
            <a:off x="2777808" y="3009285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Таблиця 1Результати розрахунку корисності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464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40" y="0"/>
            <a:ext cx="8520600" cy="685800"/>
          </a:xfrm>
        </p:spPr>
        <p:txBody>
          <a:bodyPr>
            <a:normAutofit/>
          </a:bodyPr>
          <a:lstStyle/>
          <a:p>
            <a:r>
              <a:rPr lang="ru-RU" sz="3200" dirty="0" err="1"/>
              <a:t>Архітектура</a:t>
            </a:r>
            <a:r>
              <a:rPr lang="ru-RU" sz="3200" dirty="0"/>
              <a:t> </a:t>
            </a:r>
            <a:r>
              <a:rPr lang="ru-RU" sz="3200" dirty="0" err="1"/>
              <a:t>програмного</a:t>
            </a:r>
            <a:r>
              <a:rPr lang="ru-RU" sz="3200" dirty="0"/>
              <a:t> </a:t>
            </a:r>
            <a:r>
              <a:rPr lang="ru-RU" sz="3200" dirty="0" err="1"/>
              <a:t>забезпечення</a:t>
            </a:r>
            <a:endParaRPr lang="en-US" sz="32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6247" y="744941"/>
            <a:ext cx="3790950" cy="391827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uk-UA" sz="1400" dirty="0"/>
              <a:t>Для реалізації системи обрано сучасний стек технологій та гнучку архітектуру:</a:t>
            </a:r>
          </a:p>
          <a:p>
            <a:r>
              <a:rPr lang="uk-UA" sz="1400" dirty="0"/>
              <a:t>технології: .</a:t>
            </a:r>
            <a:r>
              <a:rPr lang="en-US" sz="1400" dirty="0"/>
              <a:t>NET 10, EF Core 10, PostgreSQL 17 </a:t>
            </a:r>
            <a:r>
              <a:rPr lang="uk-UA" sz="1400" dirty="0"/>
              <a:t>та </a:t>
            </a:r>
            <a:r>
              <a:rPr lang="en-US" sz="1400" dirty="0"/>
              <a:t>Redis (</a:t>
            </a:r>
            <a:r>
              <a:rPr lang="uk-UA" sz="1400" dirty="0" err="1"/>
              <a:t>кешування</a:t>
            </a:r>
            <a:r>
              <a:rPr lang="uk-UA" sz="1400" dirty="0"/>
              <a:t>);</a:t>
            </a:r>
          </a:p>
          <a:p>
            <a:r>
              <a:rPr lang="uk-UA" sz="1400" dirty="0"/>
              <a:t>архітектура: трирівнева (</a:t>
            </a:r>
            <a:r>
              <a:rPr lang="en-US" sz="1400" dirty="0"/>
              <a:t>Core — </a:t>
            </a:r>
            <a:r>
              <a:rPr lang="uk-UA" sz="1400" dirty="0"/>
              <a:t>домен, </a:t>
            </a:r>
            <a:r>
              <a:rPr lang="en-US" sz="1400" dirty="0"/>
              <a:t>Infrastructure — </a:t>
            </a:r>
            <a:r>
              <a:rPr lang="uk-UA" sz="1400" dirty="0"/>
              <a:t>дані, </a:t>
            </a:r>
            <a:r>
              <a:rPr lang="en-US" sz="1400" dirty="0"/>
              <a:t>API — </a:t>
            </a:r>
            <a:r>
              <a:rPr lang="uk-UA" sz="1400" dirty="0"/>
              <a:t>інтерфейс);</a:t>
            </a:r>
          </a:p>
          <a:p>
            <a:r>
              <a:rPr lang="uk-UA" sz="1400" dirty="0" err="1"/>
              <a:t>патерни</a:t>
            </a:r>
            <a:r>
              <a:rPr lang="uk-UA" sz="1400" dirty="0"/>
              <a:t>: </a:t>
            </a:r>
            <a:r>
              <a:rPr lang="en-US" sz="1400" dirty="0"/>
              <a:t>Repository (</a:t>
            </a:r>
            <a:r>
              <a:rPr lang="uk-UA" sz="1400" dirty="0"/>
              <a:t>ізоляція логіки), </a:t>
            </a:r>
            <a:r>
              <a:rPr lang="en-US" sz="1400" dirty="0"/>
              <a:t>Decorator (</a:t>
            </a:r>
            <a:r>
              <a:rPr lang="uk-UA" sz="1400" dirty="0"/>
              <a:t>прозоре </a:t>
            </a:r>
            <a:r>
              <a:rPr lang="uk-UA" sz="1400" dirty="0" err="1"/>
              <a:t>кешування</a:t>
            </a:r>
            <a:r>
              <a:rPr lang="uk-UA" sz="1400" dirty="0"/>
              <a:t>), </a:t>
            </a:r>
            <a:r>
              <a:rPr lang="en-US" sz="1400" dirty="0"/>
              <a:t>Strategy (</a:t>
            </a:r>
            <a:r>
              <a:rPr lang="uk-UA" sz="1400" dirty="0"/>
              <a:t>динамічний вибір методу);</a:t>
            </a:r>
          </a:p>
          <a:p>
            <a:r>
              <a:rPr lang="uk-UA" sz="1400" dirty="0"/>
              <a:t>інструментарій: </a:t>
            </a:r>
            <a:r>
              <a:rPr lang="en-US" sz="1400" dirty="0"/>
              <a:t>Docker </a:t>
            </a:r>
            <a:r>
              <a:rPr lang="uk-UA" sz="1400" dirty="0"/>
              <a:t>для розгортання середовища та </a:t>
            </a:r>
            <a:r>
              <a:rPr lang="en-US" sz="1400" dirty="0" err="1"/>
              <a:t>BenchmarkDotNet</a:t>
            </a:r>
            <a:r>
              <a:rPr lang="en-US" sz="1400" dirty="0"/>
              <a:t> </a:t>
            </a:r>
            <a:r>
              <a:rPr lang="uk-UA" sz="1400" dirty="0"/>
              <a:t>для вимірювань.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21BEB-DC81-DF84-4A1E-8B6809E9D816}"/>
              </a:ext>
            </a:extLst>
          </p:cNvPr>
          <p:cNvSpPr txBox="1"/>
          <p:nvPr/>
        </p:nvSpPr>
        <p:spPr>
          <a:xfrm>
            <a:off x="540374" y="4304600"/>
            <a:ext cx="39363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/>
              <a:t>Рисунок 2 – </a:t>
            </a:r>
            <a:r>
              <a:rPr lang="ru-RU" dirty="0" err="1"/>
              <a:t>Діаграма</a:t>
            </a:r>
            <a:r>
              <a:rPr lang="ru-RU" dirty="0"/>
              <a:t> </a:t>
            </a:r>
            <a:r>
              <a:rPr lang="ru-RU" dirty="0" err="1"/>
              <a:t>компонентів</a:t>
            </a:r>
            <a:endParaRPr lang="uk-UA" dirty="0"/>
          </a:p>
        </p:txBody>
      </p:sp>
      <p:pic>
        <p:nvPicPr>
          <p:cNvPr id="8" name="Рисунок 1">
            <a:extLst>
              <a:ext uri="{FF2B5EF4-FFF2-40B4-BE49-F238E27FC236}">
                <a16:creationId xmlns:a16="http://schemas.microsoft.com/office/drawing/2014/main" id="{F94B2C44-C6F9-88F0-DC41-DC84183DC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17" y="1040683"/>
            <a:ext cx="4046833" cy="306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77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700" y="1"/>
            <a:ext cx="8520600" cy="685799"/>
          </a:xfrm>
        </p:spPr>
        <p:txBody>
          <a:bodyPr>
            <a:normAutofit/>
          </a:bodyPr>
          <a:lstStyle/>
          <a:p>
            <a:pPr algn="ctr"/>
            <a:r>
              <a:rPr lang="ru-RU" sz="3200" dirty="0" err="1"/>
              <a:t>Реалізація</a:t>
            </a:r>
            <a:r>
              <a:rPr lang="ru-RU" sz="3200" dirty="0"/>
              <a:t> </a:t>
            </a:r>
            <a:r>
              <a:rPr lang="ru-RU" sz="3200" dirty="0" err="1"/>
              <a:t>методів</a:t>
            </a:r>
            <a:r>
              <a:rPr lang="ru-RU" sz="3200" dirty="0"/>
              <a:t> </a:t>
            </a:r>
            <a:r>
              <a:rPr lang="ru-RU" sz="3200" dirty="0" err="1"/>
              <a:t>оптимізації</a:t>
            </a:r>
            <a:endParaRPr lang="en-US" sz="32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11700" y="773257"/>
            <a:ext cx="8520600" cy="3596986"/>
          </a:xfrm>
        </p:spPr>
        <p:txBody>
          <a:bodyPr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uk-UA" sz="1400" dirty="0"/>
              <a:t>Усі методи реалізовано в окремих репозиторіях через єдиний інтерфейс </a:t>
            </a:r>
            <a:r>
              <a:rPr lang="en-US" sz="1400" dirty="0" err="1"/>
              <a:t>IFinancialRepository</a:t>
            </a:r>
            <a:r>
              <a:rPr lang="en-US" sz="1400" dirty="0"/>
              <a:t>: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No-Tracking: </a:t>
            </a:r>
            <a:r>
              <a:rPr lang="uk-UA" sz="1400" dirty="0"/>
              <a:t>вимкнення </a:t>
            </a:r>
            <a:r>
              <a:rPr lang="en-US" sz="1400" dirty="0" err="1"/>
              <a:t>ChangeTracker</a:t>
            </a:r>
            <a:r>
              <a:rPr lang="en-US" sz="1400" dirty="0"/>
              <a:t> </a:t>
            </a:r>
            <a:r>
              <a:rPr lang="uk-UA" sz="1400" dirty="0"/>
              <a:t>для економії пам'яті;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Compiled Queries: </a:t>
            </a:r>
            <a:r>
              <a:rPr lang="uk-UA" sz="1400" dirty="0"/>
              <a:t>використання </a:t>
            </a:r>
            <a:r>
              <a:rPr lang="en-US" sz="1400" dirty="0" err="1"/>
              <a:t>EF.CompileAsyncQuery</a:t>
            </a:r>
            <a:r>
              <a:rPr lang="en-US" sz="1400" dirty="0"/>
              <a:t> </a:t>
            </a:r>
            <a:r>
              <a:rPr lang="uk-UA" sz="1400" dirty="0"/>
              <a:t>для </a:t>
            </a:r>
            <a:r>
              <a:rPr lang="uk-UA" sz="1400" dirty="0" err="1"/>
              <a:t>кешування</a:t>
            </a:r>
            <a:r>
              <a:rPr lang="uk-UA" sz="1400" dirty="0"/>
              <a:t> планів виконання;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Raw SQL (Dapper): </a:t>
            </a:r>
            <a:r>
              <a:rPr lang="uk-UA" sz="1400" dirty="0"/>
              <a:t>прямі запити з використанням </a:t>
            </a:r>
            <a:r>
              <a:rPr lang="en-US" sz="1400" dirty="0"/>
              <a:t>CTE </a:t>
            </a:r>
            <a:r>
              <a:rPr lang="uk-UA" sz="1400" dirty="0"/>
              <a:t>та </a:t>
            </a:r>
            <a:r>
              <a:rPr lang="en-US" sz="1400" dirty="0"/>
              <a:t>Self-Joins </a:t>
            </a:r>
            <a:r>
              <a:rPr lang="uk-UA" sz="1400" dirty="0"/>
              <a:t>для складних задач;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Bulk Operations: </a:t>
            </a:r>
            <a:r>
              <a:rPr lang="uk-UA" sz="1400" dirty="0"/>
              <a:t>впровадження </a:t>
            </a:r>
            <a:r>
              <a:rPr lang="en-US" sz="1400" dirty="0" err="1"/>
              <a:t>EFCore.BulkExtensions</a:t>
            </a:r>
            <a:r>
              <a:rPr lang="en-US" sz="1400" dirty="0"/>
              <a:t> </a:t>
            </a:r>
            <a:r>
              <a:rPr lang="uk-UA" sz="1400" dirty="0"/>
              <a:t>для масового запису;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Caching: </a:t>
            </a:r>
            <a:r>
              <a:rPr lang="uk-UA" sz="1400" dirty="0"/>
              <a:t>багаторівневе </a:t>
            </a:r>
            <a:r>
              <a:rPr lang="uk-UA" sz="1400" dirty="0" err="1"/>
              <a:t>кешування</a:t>
            </a:r>
            <a:r>
              <a:rPr lang="uk-UA" sz="1400" dirty="0"/>
              <a:t> (</a:t>
            </a:r>
            <a:r>
              <a:rPr lang="en-US" sz="1400" dirty="0"/>
              <a:t>Redis + </a:t>
            </a:r>
            <a:r>
              <a:rPr lang="en-US" sz="1400" dirty="0" err="1"/>
              <a:t>MemoryCache</a:t>
            </a:r>
            <a:r>
              <a:rPr lang="en-US" sz="1400" dirty="0"/>
              <a:t>) </a:t>
            </a:r>
            <a:r>
              <a:rPr lang="uk-UA" sz="1400" dirty="0"/>
              <a:t>через </a:t>
            </a:r>
            <a:r>
              <a:rPr lang="uk-UA" sz="1400" dirty="0" err="1"/>
              <a:t>патерн</a:t>
            </a:r>
            <a:r>
              <a:rPr lang="uk-UA" sz="1400" dirty="0"/>
              <a:t> </a:t>
            </a:r>
            <a:r>
              <a:rPr lang="en-US" sz="1400" dirty="0"/>
              <a:t>Decorator;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Split Queries: </a:t>
            </a:r>
            <a:r>
              <a:rPr lang="uk-UA" sz="1400" dirty="0"/>
              <a:t>розділення запитів для уникнення декартового добутку.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1767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F62A372-50C7-38A7-EA02-5A620FFAFC38}"/>
              </a:ext>
            </a:extLst>
          </p:cNvPr>
          <p:cNvSpPr txBox="1">
            <a:spLocks/>
          </p:cNvSpPr>
          <p:nvPr/>
        </p:nvSpPr>
        <p:spPr>
          <a:xfrm>
            <a:off x="311700" y="1"/>
            <a:ext cx="8520600" cy="68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ctr"/>
            <a:r>
              <a:rPr lang="ru-RU" sz="3200" dirty="0"/>
              <a:t>Тест 1 — </a:t>
            </a:r>
            <a:r>
              <a:rPr lang="ru-RU" sz="3200" dirty="0" err="1"/>
              <a:t>Розрахунок</a:t>
            </a:r>
            <a:r>
              <a:rPr lang="ru-RU" sz="3200" dirty="0"/>
              <a:t> кредитного рейтингу</a:t>
            </a:r>
            <a:endParaRPr lang="en-US" sz="3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FDE5C4-171C-EADB-852A-BEFA01653788}"/>
              </a:ext>
            </a:extLst>
          </p:cNvPr>
          <p:cNvSpPr txBox="1"/>
          <p:nvPr/>
        </p:nvSpPr>
        <p:spPr>
          <a:xfrm>
            <a:off x="145587" y="763851"/>
            <a:ext cx="3499659" cy="3615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100" dirty="0"/>
              <a:t>Абсолютний лідер: </a:t>
            </a:r>
            <a:r>
              <a:rPr lang="en-US" sz="1100" dirty="0"/>
              <a:t>Redis (Cache hit) — </a:t>
            </a:r>
            <a:r>
              <a:rPr lang="uk-UA" sz="1100" dirty="0"/>
              <a:t>прискорення у 122 рази (20.91 </a:t>
            </a:r>
            <a:r>
              <a:rPr lang="uk-UA" sz="1100" dirty="0" err="1"/>
              <a:t>мкс</a:t>
            </a:r>
            <a:r>
              <a:rPr lang="uk-UA" sz="1100" dirty="0"/>
              <a:t>). Повний відгук без звернення до </a:t>
            </a:r>
            <a:r>
              <a:rPr lang="en-US" sz="1100" dirty="0"/>
              <a:t>SQL.   </a:t>
            </a:r>
            <a:endParaRPr lang="uk-UA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100" dirty="0"/>
              <a:t>Найшвидший </a:t>
            </a:r>
            <a:r>
              <a:rPr lang="uk-UA" sz="1100" dirty="0" err="1"/>
              <a:t>некешований</a:t>
            </a:r>
            <a:r>
              <a:rPr lang="uk-UA" sz="1100" dirty="0"/>
              <a:t> метод: </a:t>
            </a:r>
            <a:r>
              <a:rPr lang="en-US" sz="1100" dirty="0" err="1"/>
              <a:t>CompiledQuery</a:t>
            </a:r>
            <a:r>
              <a:rPr lang="en-US" sz="1100" dirty="0"/>
              <a:t> (Ratio = 0.87). </a:t>
            </a:r>
            <a:r>
              <a:rPr lang="uk-UA" sz="1100" dirty="0"/>
              <a:t>Економія часу на компіляції </a:t>
            </a:r>
            <a:r>
              <a:rPr lang="en-US" sz="1100" dirty="0"/>
              <a:t>LINQ </a:t>
            </a:r>
            <a:r>
              <a:rPr lang="uk-UA" sz="1100" dirty="0"/>
              <a:t>та серверному </a:t>
            </a:r>
            <a:r>
              <a:rPr lang="en-US" sz="1100" dirty="0"/>
              <a:t>GROUP BY.  </a:t>
            </a:r>
            <a:endParaRPr lang="uk-UA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100" dirty="0"/>
              <a:t>Ефективність пам'яті: </a:t>
            </a:r>
            <a:r>
              <a:rPr lang="en-US" sz="1100" dirty="0"/>
              <a:t>Dapper (Raw SQL) — </a:t>
            </a:r>
            <a:r>
              <a:rPr lang="uk-UA" sz="1100" dirty="0"/>
              <a:t>алокації зменшено на 81% (7.20 КБ проти 38.90 КБ у </a:t>
            </a:r>
            <a:r>
              <a:rPr lang="en-US" sz="1100" dirty="0"/>
              <a:t>Baseline).   </a:t>
            </a:r>
            <a:endParaRPr lang="uk-UA" sz="11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100" dirty="0"/>
              <a:t>Технічний нюанс: </a:t>
            </a:r>
            <a:r>
              <a:rPr lang="en-US" sz="1100" dirty="0" err="1"/>
              <a:t>NoTracking</a:t>
            </a:r>
            <a:r>
              <a:rPr lang="en-US" sz="1100" dirty="0"/>
              <a:t> </a:t>
            </a:r>
            <a:r>
              <a:rPr lang="uk-UA" sz="1100" dirty="0"/>
              <a:t>виявився повільнішим за базовий метод через складніший </a:t>
            </a:r>
            <a:r>
              <a:rPr lang="en-US" sz="1100" dirty="0"/>
              <a:t>SQL-</a:t>
            </a:r>
            <a:r>
              <a:rPr lang="uk-UA" sz="1100" dirty="0"/>
              <a:t>план виконання для даного набору даних. 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755780A-FC9C-AC45-9927-4310548BE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999525"/>
              </p:ext>
            </p:extLst>
          </p:nvPr>
        </p:nvGraphicFramePr>
        <p:xfrm>
          <a:off x="3676075" y="991666"/>
          <a:ext cx="5345083" cy="27943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2069">
                  <a:extLst>
                    <a:ext uri="{9D8B030D-6E8A-4147-A177-3AD203B41FA5}">
                      <a16:colId xmlns:a16="http://schemas.microsoft.com/office/drawing/2014/main" val="4234014643"/>
                    </a:ext>
                  </a:extLst>
                </a:gridCol>
                <a:gridCol w="831963">
                  <a:extLst>
                    <a:ext uri="{9D8B030D-6E8A-4147-A177-3AD203B41FA5}">
                      <a16:colId xmlns:a16="http://schemas.microsoft.com/office/drawing/2014/main" val="11369390"/>
                    </a:ext>
                  </a:extLst>
                </a:gridCol>
                <a:gridCol w="776498">
                  <a:extLst>
                    <a:ext uri="{9D8B030D-6E8A-4147-A177-3AD203B41FA5}">
                      <a16:colId xmlns:a16="http://schemas.microsoft.com/office/drawing/2014/main" val="3396118515"/>
                    </a:ext>
                  </a:extLst>
                </a:gridCol>
                <a:gridCol w="776498">
                  <a:extLst>
                    <a:ext uri="{9D8B030D-6E8A-4147-A177-3AD203B41FA5}">
                      <a16:colId xmlns:a16="http://schemas.microsoft.com/office/drawing/2014/main" val="2886800026"/>
                    </a:ext>
                  </a:extLst>
                </a:gridCol>
                <a:gridCol w="1518055">
                  <a:extLst>
                    <a:ext uri="{9D8B030D-6E8A-4147-A177-3AD203B41FA5}">
                      <a16:colId xmlns:a16="http://schemas.microsoft.com/office/drawing/2014/main" val="1508916145"/>
                    </a:ext>
                  </a:extLst>
                </a:gridCol>
              </a:tblGrid>
              <a:tr h="319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Метод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Mean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P95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Ratio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Allocated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905552764"/>
                  </a:ext>
                </a:extLst>
              </a:tr>
              <a:tr h="5655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 dirty="0" err="1">
                          <a:effectLst/>
                        </a:rPr>
                        <a:t>Tracking_Linq</a:t>
                      </a:r>
                      <a:r>
                        <a:rPr lang="uk-UA" sz="1100" kern="100" dirty="0">
                          <a:effectLst/>
                        </a:rPr>
                        <a:t> (</a:t>
                      </a:r>
                      <a:r>
                        <a:rPr lang="uk-UA" sz="1100" kern="100" dirty="0" err="1">
                          <a:effectLst/>
                        </a:rPr>
                        <a:t>baseline</a:t>
                      </a:r>
                      <a:r>
                        <a:rPr lang="uk-UA" sz="1100" kern="100" dirty="0">
                          <a:effectLst/>
                        </a:rPr>
                        <a:t>)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2 549 µs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3 014 µs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1.01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38.90 KB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772734169"/>
                  </a:ext>
                </a:extLst>
              </a:tr>
              <a:tr h="319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NoTracking_Linq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3 606 µs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4 140 µs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1.43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53.50 KB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264482416"/>
                  </a:ext>
                </a:extLst>
              </a:tr>
              <a:tr h="319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CompiledQuery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2 182 µs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2 906 µs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0.87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14.37 KB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939345715"/>
                  </a:ext>
                </a:extLst>
              </a:tr>
              <a:tr h="319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RawSql_Dapper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2 311 µs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3 325 µs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0.92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7.20 KB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142235618"/>
                  </a:ext>
                </a:extLst>
              </a:tr>
              <a:tr h="319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Cached_FirstCall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3 438 µs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4 036 µs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1.37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56.95 KB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650894640"/>
                  </a:ext>
                </a:extLst>
              </a:tr>
              <a:tr h="56553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Cached_SubsequentCall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20.91 µs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48.94 µs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0.008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 dirty="0">
                          <a:effectLst/>
                        </a:rPr>
                        <a:t>3.38 KB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579838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387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3F62A372-50C7-38A7-EA02-5A620FFAFC38}"/>
              </a:ext>
            </a:extLst>
          </p:cNvPr>
          <p:cNvSpPr txBox="1">
            <a:spLocks/>
          </p:cNvSpPr>
          <p:nvPr/>
        </p:nvSpPr>
        <p:spPr>
          <a:xfrm>
            <a:off x="311700" y="1"/>
            <a:ext cx="8520600" cy="68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ctr"/>
            <a:r>
              <a:rPr lang="uk-UA" sz="3200" dirty="0"/>
              <a:t>Тест 2 — Оптимізація інфраструктури: </a:t>
            </a:r>
            <a:r>
              <a:rPr lang="en-US" sz="3200" dirty="0" err="1"/>
              <a:t>DbContext</a:t>
            </a:r>
            <a:r>
              <a:rPr lang="en-US" sz="3200" dirty="0"/>
              <a:t> Pooling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5A114EF-11EB-3078-B723-DB8FAEBA9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4176248"/>
              </p:ext>
            </p:extLst>
          </p:nvPr>
        </p:nvGraphicFramePr>
        <p:xfrm>
          <a:off x="4249652" y="1424594"/>
          <a:ext cx="4771506" cy="26425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6834">
                  <a:extLst>
                    <a:ext uri="{9D8B030D-6E8A-4147-A177-3AD203B41FA5}">
                      <a16:colId xmlns:a16="http://schemas.microsoft.com/office/drawing/2014/main" val="829773511"/>
                    </a:ext>
                  </a:extLst>
                </a:gridCol>
                <a:gridCol w="792197">
                  <a:extLst>
                    <a:ext uri="{9D8B030D-6E8A-4147-A177-3AD203B41FA5}">
                      <a16:colId xmlns:a16="http://schemas.microsoft.com/office/drawing/2014/main" val="3599814326"/>
                    </a:ext>
                  </a:extLst>
                </a:gridCol>
                <a:gridCol w="693173">
                  <a:extLst>
                    <a:ext uri="{9D8B030D-6E8A-4147-A177-3AD203B41FA5}">
                      <a16:colId xmlns:a16="http://schemas.microsoft.com/office/drawing/2014/main" val="1850894957"/>
                    </a:ext>
                  </a:extLst>
                </a:gridCol>
                <a:gridCol w="693173">
                  <a:extLst>
                    <a:ext uri="{9D8B030D-6E8A-4147-A177-3AD203B41FA5}">
                      <a16:colId xmlns:a16="http://schemas.microsoft.com/office/drawing/2014/main" val="1267022886"/>
                    </a:ext>
                  </a:extLst>
                </a:gridCol>
                <a:gridCol w="1256129">
                  <a:extLst>
                    <a:ext uri="{9D8B030D-6E8A-4147-A177-3AD203B41FA5}">
                      <a16:colId xmlns:a16="http://schemas.microsoft.com/office/drawing/2014/main" val="38957798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Метод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Mean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P95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Ratio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Allocated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874595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 dirty="0" err="1">
                          <a:effectLst/>
                        </a:rPr>
                        <a:t>NewContext_Creation</a:t>
                      </a:r>
                      <a:r>
                        <a:rPr lang="uk-UA" sz="1100" kern="100" dirty="0">
                          <a:effectLst/>
                        </a:rPr>
                        <a:t> (</a:t>
                      </a:r>
                      <a:r>
                        <a:rPr lang="uk-UA" sz="1100" kern="100" dirty="0" err="1">
                          <a:effectLst/>
                        </a:rPr>
                        <a:t>baseline</a:t>
                      </a:r>
                      <a:r>
                        <a:rPr lang="uk-UA" sz="1100" kern="100" dirty="0">
                          <a:effectLst/>
                        </a:rPr>
                        <a:t>)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 dirty="0">
                          <a:effectLst/>
                        </a:rPr>
                        <a:t>408.62 </a:t>
                      </a:r>
                      <a:r>
                        <a:rPr lang="uk-UA" sz="1100" kern="100" dirty="0" err="1">
                          <a:effectLst/>
                        </a:rPr>
                        <a:t>ns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424.39 ns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1.00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224 B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470121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PooledContext_Rent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21.88 ns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22.28 ns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0.05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32 B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885424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NewContext_WithQuery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545 601 ns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568 893 ns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1 336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38 945 B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954087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PooledContext_WithQuery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506 797 ns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517 432 ns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>
                          <a:effectLst/>
                        </a:rPr>
                        <a:t>1 241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100" kern="100" dirty="0">
                          <a:effectLst/>
                        </a:rPr>
                        <a:t>5 729 </a:t>
                      </a:r>
                      <a:r>
                        <a:rPr lang="uk-UA" sz="1100" kern="100" dirty="0" err="1">
                          <a:effectLst/>
                        </a:rPr>
                        <a:t>B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03166424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EDDAADC-C55C-5D50-B9AD-E26F9F3FDE81}"/>
              </a:ext>
            </a:extLst>
          </p:cNvPr>
          <p:cNvSpPr txBox="1"/>
          <p:nvPr/>
        </p:nvSpPr>
        <p:spPr>
          <a:xfrm>
            <a:off x="122842" y="1424594"/>
            <a:ext cx="3967020" cy="2278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uk-UA" sz="1200" kern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Створення нового контексту обходиться у 408 </a:t>
            </a:r>
            <a:r>
              <a:rPr lang="uk-UA" sz="1200" kern="0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ns</a:t>
            </a:r>
            <a:r>
              <a:rPr lang="uk-UA" sz="1200" kern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224 байти, тоді як отримання з пулу — лише 21.88 </a:t>
            </a:r>
            <a:r>
              <a:rPr lang="uk-UA" sz="1200" kern="0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ns</a:t>
            </a:r>
            <a:r>
              <a:rPr lang="uk-UA" sz="1200" kern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та 32 байти (у 18.7 рази швидше, у 7 разів менше пам'яті). При виконанні запиту перевага у часі зменшується до 7.6 %, проте різниця в алокаціях залишається значною: 38 945 </a:t>
            </a:r>
            <a:r>
              <a:rPr lang="uk-UA" sz="1200" kern="0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</a:t>
            </a:r>
            <a:r>
              <a:rPr lang="uk-UA" sz="1200" kern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проти 5 729 </a:t>
            </a:r>
            <a:r>
              <a:rPr lang="uk-UA" sz="1200" kern="0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</a:t>
            </a:r>
            <a:r>
              <a:rPr lang="uk-UA" sz="1200" kern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(у 6.8 рази менше). Це критично для сценаріїв з великою кількістю коротких запитів</a:t>
            </a:r>
            <a:r>
              <a:rPr lang="en-US" sz="12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endParaRPr lang="en-US" sz="1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104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F1D2552-8FDF-0EFC-8112-6356ADCBFA1D}"/>
              </a:ext>
            </a:extLst>
          </p:cNvPr>
          <p:cNvSpPr txBox="1">
            <a:spLocks/>
          </p:cNvSpPr>
          <p:nvPr/>
        </p:nvSpPr>
        <p:spPr>
          <a:xfrm>
            <a:off x="311700" y="1"/>
            <a:ext cx="8520600" cy="68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ctr"/>
            <a:r>
              <a:rPr lang="uk-UA" sz="3200" dirty="0"/>
              <a:t>Тест 3 — Стратегії завантаження даних (</a:t>
            </a:r>
            <a:r>
              <a:rPr lang="en-US" sz="3200" dirty="0"/>
              <a:t>Fraud Detection)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D6F9879-F57C-0511-60FB-C8CE0DE40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129998"/>
              </p:ext>
            </p:extLst>
          </p:nvPr>
        </p:nvGraphicFramePr>
        <p:xfrm>
          <a:off x="4276110" y="1045093"/>
          <a:ext cx="4598965" cy="35341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6716">
                  <a:extLst>
                    <a:ext uri="{9D8B030D-6E8A-4147-A177-3AD203B41FA5}">
                      <a16:colId xmlns:a16="http://schemas.microsoft.com/office/drawing/2014/main" val="140337112"/>
                    </a:ext>
                  </a:extLst>
                </a:gridCol>
                <a:gridCol w="429498">
                  <a:extLst>
                    <a:ext uri="{9D8B030D-6E8A-4147-A177-3AD203B41FA5}">
                      <a16:colId xmlns:a16="http://schemas.microsoft.com/office/drawing/2014/main" val="3457811395"/>
                    </a:ext>
                  </a:extLst>
                </a:gridCol>
                <a:gridCol w="668108">
                  <a:extLst>
                    <a:ext uri="{9D8B030D-6E8A-4147-A177-3AD203B41FA5}">
                      <a16:colId xmlns:a16="http://schemas.microsoft.com/office/drawing/2014/main" val="315206878"/>
                    </a:ext>
                  </a:extLst>
                </a:gridCol>
                <a:gridCol w="668108">
                  <a:extLst>
                    <a:ext uri="{9D8B030D-6E8A-4147-A177-3AD203B41FA5}">
                      <a16:colId xmlns:a16="http://schemas.microsoft.com/office/drawing/2014/main" val="3291220717"/>
                    </a:ext>
                  </a:extLst>
                </a:gridCol>
                <a:gridCol w="668108">
                  <a:extLst>
                    <a:ext uri="{9D8B030D-6E8A-4147-A177-3AD203B41FA5}">
                      <a16:colId xmlns:a16="http://schemas.microsoft.com/office/drawing/2014/main" val="1041136767"/>
                    </a:ext>
                  </a:extLst>
                </a:gridCol>
                <a:gridCol w="1258427">
                  <a:extLst>
                    <a:ext uri="{9D8B030D-6E8A-4147-A177-3AD203B41FA5}">
                      <a16:colId xmlns:a16="http://schemas.microsoft.com/office/drawing/2014/main" val="4152340315"/>
                    </a:ext>
                  </a:extLst>
                </a:gridCol>
              </a:tblGrid>
              <a:tr h="35382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Метод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Вікно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Mean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P95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Ratio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Allocated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extLst>
                  <a:ext uri="{0D108BD9-81ED-4DB2-BD59-A6C34878D82A}">
                    <a16:rowId xmlns:a16="http://schemas.microsoft.com/office/drawing/2014/main" val="3401591942"/>
                  </a:ext>
                </a:extLst>
              </a:tr>
              <a:tr h="3533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Linq_Approximation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5 хв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1.633 ms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2.184 ms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1.08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14.15 KB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extLst>
                  <a:ext uri="{0D108BD9-81ED-4DB2-BD59-A6C34878D82A}">
                    <a16:rowId xmlns:a16="http://schemas.microsoft.com/office/drawing/2014/main" val="2576696622"/>
                  </a:ext>
                </a:extLst>
              </a:tr>
              <a:tr h="3533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NoTracking_Linq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5 хв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1.413 ms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2.006 ms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0.93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18.22 KB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extLst>
                  <a:ext uri="{0D108BD9-81ED-4DB2-BD59-A6C34878D82A}">
                    <a16:rowId xmlns:a16="http://schemas.microsoft.com/office/drawing/2014/main" val="1959177141"/>
                  </a:ext>
                </a:extLst>
              </a:tr>
              <a:tr h="3533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RawSql_Dapper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5 хв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1.966 ms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2.560 ms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 dirty="0">
                          <a:effectLst/>
                        </a:rPr>
                        <a:t>1.30</a:t>
                      </a:r>
                      <a:endParaRPr lang="en-US" sz="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6.45 KB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extLst>
                  <a:ext uri="{0D108BD9-81ED-4DB2-BD59-A6C34878D82A}">
                    <a16:rowId xmlns:a16="http://schemas.microsoft.com/office/drawing/2014/main" val="738330429"/>
                  </a:ext>
                </a:extLst>
              </a:tr>
              <a:tr h="3533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Linq_Approximation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15 хв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1.478 ms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1.802 ms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1.03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14.15 KB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extLst>
                  <a:ext uri="{0D108BD9-81ED-4DB2-BD59-A6C34878D82A}">
                    <a16:rowId xmlns:a16="http://schemas.microsoft.com/office/drawing/2014/main" val="3228980634"/>
                  </a:ext>
                </a:extLst>
              </a:tr>
              <a:tr h="3533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NoTracking_Linq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15 хв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1.377 ms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1.845 ms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0.96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18.37 KB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extLst>
                  <a:ext uri="{0D108BD9-81ED-4DB2-BD59-A6C34878D82A}">
                    <a16:rowId xmlns:a16="http://schemas.microsoft.com/office/drawing/2014/main" val="3156170123"/>
                  </a:ext>
                </a:extLst>
              </a:tr>
              <a:tr h="3533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RawSql_Dapper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15 хв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1.573 ms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1.841 ms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1.10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6.45 KB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extLst>
                  <a:ext uri="{0D108BD9-81ED-4DB2-BD59-A6C34878D82A}">
                    <a16:rowId xmlns:a16="http://schemas.microsoft.com/office/drawing/2014/main" val="3820582695"/>
                  </a:ext>
                </a:extLst>
              </a:tr>
              <a:tr h="3533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Linq_Approximation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60 хв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2.167 ms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3.928 ms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1.25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14.15 KB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extLst>
                  <a:ext uri="{0D108BD9-81ED-4DB2-BD59-A6C34878D82A}">
                    <a16:rowId xmlns:a16="http://schemas.microsoft.com/office/drawing/2014/main" val="4019903703"/>
                  </a:ext>
                </a:extLst>
              </a:tr>
              <a:tr h="3533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NoTracking_Linq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60 хв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1.708 ms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1.977 ms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0.98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18.22 KB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extLst>
                  <a:ext uri="{0D108BD9-81ED-4DB2-BD59-A6C34878D82A}">
                    <a16:rowId xmlns:a16="http://schemas.microsoft.com/office/drawing/2014/main" val="1519281155"/>
                  </a:ext>
                </a:extLst>
              </a:tr>
              <a:tr h="3533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RawSql_Dapper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60 хв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1.450 ms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2.108 ms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>
                          <a:effectLst/>
                        </a:rPr>
                        <a:t>0.83</a:t>
                      </a:r>
                      <a:endParaRPr lang="en-US" sz="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700" kern="100" dirty="0">
                          <a:effectLst/>
                        </a:rPr>
                        <a:t>6.45 KB</a:t>
                      </a:r>
                      <a:endParaRPr lang="en-US" sz="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42" marR="38142" marT="25428" marB="25428" anchor="ctr"/>
                </a:tc>
                <a:extLst>
                  <a:ext uri="{0D108BD9-81ED-4DB2-BD59-A6C34878D82A}">
                    <a16:rowId xmlns:a16="http://schemas.microsoft.com/office/drawing/2014/main" val="318598150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7B74163-79EE-111B-0966-37662BEBA2F7}"/>
              </a:ext>
            </a:extLst>
          </p:cNvPr>
          <p:cNvSpPr txBox="1"/>
          <p:nvPr/>
        </p:nvSpPr>
        <p:spPr>
          <a:xfrm>
            <a:off x="182880" y="1045093"/>
            <a:ext cx="3823855" cy="3111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uk-UA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Результати виявляють залежність ефективності від розміру вікна. При вікні 5 хвилин </a:t>
            </a:r>
            <a:r>
              <a:rPr lang="uk-UA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RawSql_Dapper</a:t>
            </a:r>
            <a:r>
              <a:rPr lang="uk-UA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є повільнішим за LINQ-реалізації (1.966 </a:t>
            </a:r>
            <a:r>
              <a:rPr lang="uk-UA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uk-UA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проти 1.633 </a:t>
            </a:r>
            <a:r>
              <a:rPr lang="uk-UA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uk-UA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оскільки </a:t>
            </a:r>
            <a:r>
              <a:rPr lang="uk-UA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overhead</a:t>
            </a:r>
            <a:r>
              <a:rPr lang="uk-UA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self-join</a:t>
            </a:r>
            <a:r>
              <a:rPr lang="uk-UA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переважає над перевагою серверної обробки при малій кількості транзакцій. При вікні 60 хвилин ситуація змінюється: </a:t>
            </a:r>
            <a:r>
              <a:rPr lang="uk-UA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RawSql</a:t>
            </a:r>
            <a:r>
              <a:rPr lang="uk-UA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стає найшвидшим (1.450 </a:t>
            </a:r>
            <a:r>
              <a:rPr lang="uk-UA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uk-UA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Ratio</a:t>
            </a:r>
            <a:r>
              <a:rPr lang="uk-UA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0.83), тоді як </a:t>
            </a:r>
            <a:r>
              <a:rPr lang="uk-UA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Linq_Approximation</a:t>
            </a:r>
            <a:r>
              <a:rPr lang="uk-UA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деградує (2.167 </a:t>
            </a:r>
            <a:r>
              <a:rPr lang="uk-UA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uk-UA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через зростання обсягу даних для </a:t>
            </a:r>
            <a:r>
              <a:rPr lang="uk-UA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in-memory</a:t>
            </a:r>
            <a:r>
              <a:rPr lang="uk-UA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аналізу. </a:t>
            </a:r>
            <a:r>
              <a:rPr lang="uk-UA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RawSql</a:t>
            </a:r>
            <a:r>
              <a:rPr lang="uk-UA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незмінно демонструє найменші алокації (6.45 KB) у всіх конфігураціях.</a:t>
            </a:r>
            <a:endParaRPr lang="en-US" sz="12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973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7A6E179-289A-2975-1913-E8142F3BACDD}"/>
              </a:ext>
            </a:extLst>
          </p:cNvPr>
          <p:cNvSpPr txBox="1">
            <a:spLocks/>
          </p:cNvSpPr>
          <p:nvPr/>
        </p:nvSpPr>
        <p:spPr>
          <a:xfrm>
            <a:off x="311700" y="202250"/>
            <a:ext cx="8520600" cy="68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ctr"/>
            <a:r>
              <a:rPr lang="uk-UA" sz="3200" b="1" dirty="0"/>
              <a:t>Тест 4 — Оптимізація масових операцій (</a:t>
            </a:r>
            <a:r>
              <a:rPr lang="en-US" sz="3200" b="1" dirty="0"/>
              <a:t>Interest Accrual)</a:t>
            </a:r>
            <a:r>
              <a:rPr lang="en-US" sz="3200" dirty="0"/>
              <a:t>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F34049C-4462-39F8-BC72-00221246F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232599"/>
              </p:ext>
            </p:extLst>
          </p:nvPr>
        </p:nvGraphicFramePr>
        <p:xfrm>
          <a:off x="5007643" y="984473"/>
          <a:ext cx="3739165" cy="33800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1202">
                  <a:extLst>
                    <a:ext uri="{9D8B030D-6E8A-4147-A177-3AD203B41FA5}">
                      <a16:colId xmlns:a16="http://schemas.microsoft.com/office/drawing/2014/main" val="1668488710"/>
                    </a:ext>
                  </a:extLst>
                </a:gridCol>
                <a:gridCol w="426801">
                  <a:extLst>
                    <a:ext uri="{9D8B030D-6E8A-4147-A177-3AD203B41FA5}">
                      <a16:colId xmlns:a16="http://schemas.microsoft.com/office/drawing/2014/main" val="4234830205"/>
                    </a:ext>
                  </a:extLst>
                </a:gridCol>
                <a:gridCol w="620802">
                  <a:extLst>
                    <a:ext uri="{9D8B030D-6E8A-4147-A177-3AD203B41FA5}">
                      <a16:colId xmlns:a16="http://schemas.microsoft.com/office/drawing/2014/main" val="1563525408"/>
                    </a:ext>
                  </a:extLst>
                </a:gridCol>
                <a:gridCol w="582001">
                  <a:extLst>
                    <a:ext uri="{9D8B030D-6E8A-4147-A177-3AD203B41FA5}">
                      <a16:colId xmlns:a16="http://schemas.microsoft.com/office/drawing/2014/main" val="3018929962"/>
                    </a:ext>
                  </a:extLst>
                </a:gridCol>
                <a:gridCol w="543201">
                  <a:extLst>
                    <a:ext uri="{9D8B030D-6E8A-4147-A177-3AD203B41FA5}">
                      <a16:colId xmlns:a16="http://schemas.microsoft.com/office/drawing/2014/main" val="485594719"/>
                    </a:ext>
                  </a:extLst>
                </a:gridCol>
                <a:gridCol w="635158">
                  <a:extLst>
                    <a:ext uri="{9D8B030D-6E8A-4147-A177-3AD203B41FA5}">
                      <a16:colId xmlns:a16="http://schemas.microsoft.com/office/drawing/2014/main" val="2885004874"/>
                    </a:ext>
                  </a:extLst>
                </a:gridCol>
              </a:tblGrid>
              <a:tr h="23776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 kern="100">
                          <a:effectLst/>
                        </a:rPr>
                        <a:t>Метод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 kern="100">
                          <a:effectLst/>
                        </a:rPr>
                        <a:t>K-сть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 kern="100">
                          <a:effectLst/>
                        </a:rPr>
                        <a:t>Mean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 kern="100">
                          <a:effectLst/>
                        </a:rPr>
                        <a:t>P95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 kern="100">
                          <a:effectLst/>
                        </a:rPr>
                        <a:t>Ratio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 kern="100">
                          <a:effectLst/>
                        </a:rPr>
                        <a:t>Allocated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extLst>
                  <a:ext uri="{0D108BD9-81ED-4DB2-BD59-A6C34878D82A}">
                    <a16:rowId xmlns:a16="http://schemas.microsoft.com/office/drawing/2014/main" val="448123867"/>
                  </a:ext>
                </a:extLst>
              </a:tr>
              <a:tr h="4068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Tracking_SaveChanges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100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15.077 ms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18.675 ms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1.01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2 984 KB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extLst>
                  <a:ext uri="{0D108BD9-81ED-4DB2-BD59-A6C34878D82A}">
                    <a16:rowId xmlns:a16="http://schemas.microsoft.com/office/drawing/2014/main" val="2767386556"/>
                  </a:ext>
                </a:extLst>
              </a:tr>
              <a:tr h="2252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Bulk_BulkInsert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100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4.038 ms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5.969 ms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0.27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125.83 KB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extLst>
                  <a:ext uri="{0D108BD9-81ED-4DB2-BD59-A6C34878D82A}">
                    <a16:rowId xmlns:a16="http://schemas.microsoft.com/office/drawing/2014/main" val="3281292220"/>
                  </a:ext>
                </a:extLst>
              </a:tr>
              <a:tr h="4068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NoTracking_Read_BulkWrite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100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4.827 ms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5.940 ms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0.32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180.46 KB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extLst>
                  <a:ext uri="{0D108BD9-81ED-4DB2-BD59-A6C34878D82A}">
                    <a16:rowId xmlns:a16="http://schemas.microsoft.com/office/drawing/2014/main" val="2607219344"/>
                  </a:ext>
                </a:extLst>
              </a:tr>
              <a:tr h="4068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Tracking_SaveChanges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1 000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74.637 ms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109.28 ms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1.13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27 007 KB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extLst>
                  <a:ext uri="{0D108BD9-81ED-4DB2-BD59-A6C34878D82A}">
                    <a16:rowId xmlns:a16="http://schemas.microsoft.com/office/drawing/2014/main" val="3679354704"/>
                  </a:ext>
                </a:extLst>
              </a:tr>
              <a:tr h="2252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Bulk_BulkInsert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1 000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16.938 ms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17.907 ms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0.26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716.22 KB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extLst>
                  <a:ext uri="{0D108BD9-81ED-4DB2-BD59-A6C34878D82A}">
                    <a16:rowId xmlns:a16="http://schemas.microsoft.com/office/drawing/2014/main" val="1934938740"/>
                  </a:ext>
                </a:extLst>
              </a:tr>
              <a:tr h="4068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NoTracking_Read_BulkWrite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1 000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22.884 ms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25.238 ms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0.35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1 001 KB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extLst>
                  <a:ext uri="{0D108BD9-81ED-4DB2-BD59-A6C34878D82A}">
                    <a16:rowId xmlns:a16="http://schemas.microsoft.com/office/drawing/2014/main" val="4256389759"/>
                  </a:ext>
                </a:extLst>
              </a:tr>
              <a:tr h="4068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Tracking_SaveChanges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10 000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403.97 ms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433.51 ms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1.00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267 317 KB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extLst>
                  <a:ext uri="{0D108BD9-81ED-4DB2-BD59-A6C34878D82A}">
                    <a16:rowId xmlns:a16="http://schemas.microsoft.com/office/drawing/2014/main" val="1673100161"/>
                  </a:ext>
                </a:extLst>
              </a:tr>
              <a:tr h="2252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Bulk_BulkInsert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10 000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94.114 ms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122.70 ms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0.23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6 623 KB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extLst>
                  <a:ext uri="{0D108BD9-81ED-4DB2-BD59-A6C34878D82A}">
                    <a16:rowId xmlns:a16="http://schemas.microsoft.com/office/drawing/2014/main" val="1668220919"/>
                  </a:ext>
                </a:extLst>
              </a:tr>
              <a:tr h="40681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NoTracking_Read_BulkWrite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10 000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113.63 ms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136.42 ms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>
                          <a:effectLst/>
                        </a:rPr>
                        <a:t>0.28</a:t>
                      </a:r>
                      <a:endParaRPr lang="en-US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800" kern="100" dirty="0">
                          <a:effectLst/>
                        </a:rPr>
                        <a:t>9 096 KB</a:t>
                      </a:r>
                      <a:endParaRPr lang="en-US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560" marR="46560" marT="31040" marB="31040" anchor="ctr"/>
                </a:tc>
                <a:extLst>
                  <a:ext uri="{0D108BD9-81ED-4DB2-BD59-A6C34878D82A}">
                    <a16:rowId xmlns:a16="http://schemas.microsoft.com/office/drawing/2014/main" val="424592512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CBC9C77-8226-9ADC-5223-01525BA76E86}"/>
              </a:ext>
            </a:extLst>
          </p:cNvPr>
          <p:cNvSpPr txBox="1"/>
          <p:nvPr/>
        </p:nvSpPr>
        <p:spPr>
          <a:xfrm>
            <a:off x="435643" y="1038653"/>
            <a:ext cx="4427302" cy="3289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uk-UA" sz="1400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Bulk_BulkInsert</a:t>
            </a:r>
            <a:r>
              <a:rPr lang="uk-UA" sz="14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забезпечує стабільне прискорення у 3.7–4.3 рази порівняно з </a:t>
            </a:r>
            <a:r>
              <a:rPr lang="uk-UA" sz="1400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Tracking_SaveChanges</a:t>
            </a:r>
            <a:r>
              <a:rPr lang="uk-UA" sz="14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у всіх конфігураціях. Найбільш показовим є скорочення алокацій: при 10 000 записів </a:t>
            </a:r>
            <a:r>
              <a:rPr lang="uk-UA" sz="1400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Tracking_SaveChanges</a:t>
            </a:r>
            <a:r>
              <a:rPr lang="uk-UA" sz="14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виділяє 267 317 KB (261 MB), тоді як </a:t>
            </a:r>
            <a:r>
              <a:rPr lang="uk-UA" sz="1400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Bulk_BulkInsert</a:t>
            </a:r>
            <a:r>
              <a:rPr lang="uk-UA" sz="14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— лише 6 623 KB (6.5 MB), тобто у 40 разів менше. Це пояснюється тим, що EF </a:t>
            </a:r>
            <a:r>
              <a:rPr lang="uk-UA" sz="1400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Core</a:t>
            </a:r>
            <a:r>
              <a:rPr lang="uk-UA" sz="14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відстежує всі 10 000 об'єктів у </a:t>
            </a:r>
            <a:r>
              <a:rPr lang="uk-UA" sz="1400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ChangeTracker</a:t>
            </a:r>
            <a:r>
              <a:rPr lang="uk-UA" sz="14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тоді як </a:t>
            </a:r>
            <a:r>
              <a:rPr lang="uk-UA" sz="1400" dirty="0" err="1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BulkInsert</a:t>
            </a:r>
            <a:r>
              <a:rPr lang="uk-UA" sz="140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обходить його повністю.</a:t>
            </a:r>
            <a:endParaRPr lang="en-US" sz="1100" dirty="0"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409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7F075D1-2E76-34F3-AB84-995917D8BA15}"/>
              </a:ext>
            </a:extLst>
          </p:cNvPr>
          <p:cNvSpPr txBox="1">
            <a:spLocks/>
          </p:cNvSpPr>
          <p:nvPr/>
        </p:nvSpPr>
        <p:spPr>
          <a:xfrm>
            <a:off x="311700" y="225801"/>
            <a:ext cx="8520600" cy="68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ctr"/>
            <a:r>
              <a:rPr lang="uk-UA" sz="3200" dirty="0"/>
              <a:t>Тест 5 — Розрахунок ризиків портфелю (</a:t>
            </a:r>
            <a:r>
              <a:rPr lang="en-US" sz="3200" dirty="0"/>
              <a:t>Portfolio Value-at-Risk)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93307B4-8E46-167B-064A-45C5D075C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25225"/>
            <a:ext cx="3803100" cy="3263648"/>
          </a:xfrm>
        </p:spPr>
        <p:txBody>
          <a:bodyPr>
            <a:normAutofit fontScale="92500" lnSpcReduction="10000"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uk-UA" sz="1100" dirty="0"/>
              <a:t>Результати демонструють очікувану закономірність: </a:t>
            </a:r>
            <a:r>
              <a:rPr lang="uk-UA" sz="1100" dirty="0" err="1"/>
              <a:t>MultiInclude_Join</a:t>
            </a:r>
            <a:r>
              <a:rPr lang="uk-UA" sz="1100" dirty="0"/>
              <a:t> (дві колекції через JOIN) генерує декартовий добуток і витрачає 197 KB, тоді як </a:t>
            </a:r>
            <a:r>
              <a:rPr lang="uk-UA" sz="1100" dirty="0" err="1"/>
              <a:t>MultiInclude_SplitQuery</a:t>
            </a:r>
            <a:r>
              <a:rPr lang="uk-UA" sz="1100" dirty="0"/>
              <a:t> використовує три окремих SELECT і витрачає 337 KB з часом 11.7 </a:t>
            </a:r>
            <a:r>
              <a:rPr lang="uk-UA" sz="1100" dirty="0" err="1"/>
              <a:t>ms</a:t>
            </a:r>
            <a:r>
              <a:rPr lang="uk-UA" sz="1100" dirty="0"/>
              <a:t>. У даному випадку </a:t>
            </a:r>
            <a:r>
              <a:rPr lang="uk-UA" sz="1100" dirty="0" err="1"/>
              <a:t>SplitQuery</a:t>
            </a:r>
            <a:r>
              <a:rPr lang="uk-UA" sz="1100" dirty="0"/>
              <a:t> повільніший через три окремих </a:t>
            </a:r>
            <a:r>
              <a:rPr lang="uk-UA" sz="1100" dirty="0" err="1"/>
              <a:t>round-trips</a:t>
            </a:r>
            <a:r>
              <a:rPr lang="uk-UA" sz="1100" dirty="0"/>
              <a:t> до СУБД при відносно невеликому обсязі даних тестового набору. LazyLoading_N1 виявився найшвидшим через малу кількість рахунків у тестового клієнта: </a:t>
            </a:r>
            <a:r>
              <a:rPr lang="uk-UA" sz="1100" dirty="0" err="1"/>
              <a:t>overhead</a:t>
            </a:r>
            <a:r>
              <a:rPr lang="uk-UA" sz="1100" dirty="0"/>
              <a:t> N+1 запитів є незначним при кількох рахунках, тоді як JOIN та </a:t>
            </a:r>
            <a:r>
              <a:rPr lang="uk-UA" sz="1100" dirty="0" err="1"/>
              <a:t>SplitQuery</a:t>
            </a:r>
            <a:r>
              <a:rPr lang="uk-UA" sz="1100" dirty="0"/>
              <a:t> несуть фіксовані витрати. Реальна деградація N+1 проявляється при зростанні кількості рахунків, що підтверджують результати навантажувального тестування</a:t>
            </a:r>
            <a:r>
              <a:rPr lang="en-US" sz="1100" dirty="0"/>
              <a:t>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D69C580-B14F-B415-5DEB-36498D4CF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83202"/>
              </p:ext>
            </p:extLst>
          </p:nvPr>
        </p:nvGraphicFramePr>
        <p:xfrm>
          <a:off x="4114798" y="1055717"/>
          <a:ext cx="4906360" cy="36331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4615">
                  <a:extLst>
                    <a:ext uri="{9D8B030D-6E8A-4147-A177-3AD203B41FA5}">
                      <a16:colId xmlns:a16="http://schemas.microsoft.com/office/drawing/2014/main" val="3991161837"/>
                    </a:ext>
                  </a:extLst>
                </a:gridCol>
                <a:gridCol w="763676">
                  <a:extLst>
                    <a:ext uri="{9D8B030D-6E8A-4147-A177-3AD203B41FA5}">
                      <a16:colId xmlns:a16="http://schemas.microsoft.com/office/drawing/2014/main" val="4264464527"/>
                    </a:ext>
                  </a:extLst>
                </a:gridCol>
                <a:gridCol w="712764">
                  <a:extLst>
                    <a:ext uri="{9D8B030D-6E8A-4147-A177-3AD203B41FA5}">
                      <a16:colId xmlns:a16="http://schemas.microsoft.com/office/drawing/2014/main" val="590136266"/>
                    </a:ext>
                  </a:extLst>
                </a:gridCol>
                <a:gridCol w="712764">
                  <a:extLst>
                    <a:ext uri="{9D8B030D-6E8A-4147-A177-3AD203B41FA5}">
                      <a16:colId xmlns:a16="http://schemas.microsoft.com/office/drawing/2014/main" val="814392865"/>
                    </a:ext>
                  </a:extLst>
                </a:gridCol>
                <a:gridCol w="1342541">
                  <a:extLst>
                    <a:ext uri="{9D8B030D-6E8A-4147-A177-3AD203B41FA5}">
                      <a16:colId xmlns:a16="http://schemas.microsoft.com/office/drawing/2014/main" val="1031459504"/>
                    </a:ext>
                  </a:extLst>
                </a:gridCol>
              </a:tblGrid>
              <a:tr h="3720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P95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Ratio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4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Allocated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53428893"/>
                  </a:ext>
                </a:extLst>
              </a:tr>
              <a:tr h="6590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Tracking_Linq (baseline)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2 686 µs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3 432 µs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37.92 KB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508414546"/>
                  </a:ext>
                </a:extLst>
              </a:tr>
              <a:tr h="6237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NoTracking_Linq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2 085 µs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3 049 µs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24.93 KB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137789515"/>
                  </a:ext>
                </a:extLst>
              </a:tr>
              <a:tr h="6237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RawSql_Percentile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1 505 µs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1 986 µs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8.52 KB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399338344"/>
                  </a:ext>
                </a:extLst>
              </a:tr>
              <a:tr h="5891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Cached_FirstCall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761 µs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918 µs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27.90 KB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04385282"/>
                  </a:ext>
                </a:extLst>
              </a:tr>
              <a:tr h="6237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Cached_SubsequentCall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1.69 µs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2.96 µs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13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3.02 KB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210591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657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334D80A-8981-996F-1066-DC693551883E}"/>
              </a:ext>
            </a:extLst>
          </p:cNvPr>
          <p:cNvSpPr txBox="1">
            <a:spLocks/>
          </p:cNvSpPr>
          <p:nvPr/>
        </p:nvSpPr>
        <p:spPr>
          <a:xfrm>
            <a:off x="311700" y="1"/>
            <a:ext cx="8520600" cy="68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ctr"/>
            <a:r>
              <a:rPr lang="uk-UA" sz="3200" dirty="0"/>
              <a:t>Тест 6 — Навантажувальне тестування (</a:t>
            </a:r>
            <a:r>
              <a:rPr lang="en-US" sz="3200" dirty="0" err="1"/>
              <a:t>NBomber</a:t>
            </a:r>
            <a:r>
              <a:rPr lang="en-US" sz="3200" dirty="0"/>
              <a:t>)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EDD3007C-D7DE-7F44-0233-0A06EDA18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631803"/>
              </p:ext>
            </p:extLst>
          </p:nvPr>
        </p:nvGraphicFramePr>
        <p:xfrm>
          <a:off x="1639252" y="580812"/>
          <a:ext cx="5865495" cy="42792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5950">
                  <a:extLst>
                    <a:ext uri="{9D8B030D-6E8A-4147-A177-3AD203B41FA5}">
                      <a16:colId xmlns:a16="http://schemas.microsoft.com/office/drawing/2014/main" val="1746955831"/>
                    </a:ext>
                  </a:extLst>
                </a:gridCol>
                <a:gridCol w="742315">
                  <a:extLst>
                    <a:ext uri="{9D8B030D-6E8A-4147-A177-3AD203B41FA5}">
                      <a16:colId xmlns:a16="http://schemas.microsoft.com/office/drawing/2014/main" val="1214806203"/>
                    </a:ext>
                  </a:extLst>
                </a:gridCol>
                <a:gridCol w="734695">
                  <a:extLst>
                    <a:ext uri="{9D8B030D-6E8A-4147-A177-3AD203B41FA5}">
                      <a16:colId xmlns:a16="http://schemas.microsoft.com/office/drawing/2014/main" val="148616641"/>
                    </a:ext>
                  </a:extLst>
                </a:gridCol>
                <a:gridCol w="734695">
                  <a:extLst>
                    <a:ext uri="{9D8B030D-6E8A-4147-A177-3AD203B41FA5}">
                      <a16:colId xmlns:a16="http://schemas.microsoft.com/office/drawing/2014/main" val="2976836042"/>
                    </a:ext>
                  </a:extLst>
                </a:gridCol>
                <a:gridCol w="734695">
                  <a:extLst>
                    <a:ext uri="{9D8B030D-6E8A-4147-A177-3AD203B41FA5}">
                      <a16:colId xmlns:a16="http://schemas.microsoft.com/office/drawing/2014/main" val="1324620859"/>
                    </a:ext>
                  </a:extLst>
                </a:gridCol>
                <a:gridCol w="1033145">
                  <a:extLst>
                    <a:ext uri="{9D8B030D-6E8A-4147-A177-3AD203B41FA5}">
                      <a16:colId xmlns:a16="http://schemas.microsoft.com/office/drawing/2014/main" val="18794589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 dirty="0">
                          <a:effectLst/>
                        </a:rPr>
                        <a:t>Сценарій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 dirty="0" err="1">
                          <a:effectLst/>
                        </a:rPr>
                        <a:t>Mean</a:t>
                      </a:r>
                      <a:r>
                        <a:rPr lang="uk-UA" sz="900" dirty="0">
                          <a:effectLst/>
                        </a:rPr>
                        <a:t> (</a:t>
                      </a:r>
                      <a:r>
                        <a:rPr lang="uk-UA" sz="900" dirty="0" err="1">
                          <a:effectLst/>
                        </a:rPr>
                        <a:t>ms</a:t>
                      </a:r>
                      <a:r>
                        <a:rPr lang="uk-UA" sz="900" dirty="0">
                          <a:effectLst/>
                        </a:rPr>
                        <a:t>)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p50 (ms)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p95 (ms)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p99 (ms)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 dirty="0">
                          <a:effectLst/>
                        </a:rPr>
                        <a:t>RPS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296550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credit_scoring_tracking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8.73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6.75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15.78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28.37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15.1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118330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credit_scoring_notracking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9.35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7.03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16.35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28.80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15.1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702018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credit_scoring_compiled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6.80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4.68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13.05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 dirty="0">
                          <a:effectLst/>
                        </a:rPr>
                        <a:t>21.87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15.1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566256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credit_scoring_rawsql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6.80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4.76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12.73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20.54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15.1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097650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credit_scoring_cached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5.29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3.36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11.74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21.60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15.1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629341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fraud_detection_tracking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6.81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4.35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13.09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effectLst/>
                        </a:rPr>
                        <a:t>23.98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 dirty="0">
                          <a:effectLst/>
                        </a:rPr>
                        <a:t>5.0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240418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fraud_detection_rawsql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4.55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12.89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18.03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043288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accounts_lazy_n1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15.94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13.74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26.35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31.63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404969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accounts_eager_loading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9.39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15.28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23.71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084677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portfolio_var_tracking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8.57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6.46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15.66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22.54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312861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portfolio_var_notracking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7.10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4.65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12.96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20.85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383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portfolio_var_compiled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6.82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4.72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13.47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20.13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504590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portfolio_var_rawsql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7.00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4.64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12.91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19.61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72809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portfolio_var_cached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9.32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13.16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uk-UA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10.0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799927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822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1755" y="31900"/>
            <a:ext cx="8520600" cy="831300"/>
          </a:xfrm>
        </p:spPr>
        <p:txBody>
          <a:bodyPr>
            <a:normAutofit/>
          </a:bodyPr>
          <a:lstStyle/>
          <a:p>
            <a:r>
              <a:rPr lang="ru-RU" sz="3600" dirty="0"/>
              <a:t>Рекомендації щодо вибору методу</a:t>
            </a:r>
            <a:endParaRPr lang="en-US" sz="36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68925" y="894750"/>
            <a:ext cx="5100834" cy="3354000"/>
          </a:xfrm>
        </p:spPr>
        <p:txBody>
          <a:bodyPr>
            <a:no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sz="800" dirty="0"/>
              <a:t>Bulk Operations — </a:t>
            </a:r>
            <a:r>
              <a:rPr lang="uk-UA" sz="800" dirty="0"/>
              <a:t>для запису: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800" dirty="0"/>
              <a:t>нарахування відсотків та інші масові вставки 10 000+ записів;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800" dirty="0"/>
              <a:t>використовує </a:t>
            </a:r>
            <a:r>
              <a:rPr lang="en-US" sz="800" dirty="0"/>
              <a:t>COPY-</a:t>
            </a:r>
            <a:r>
              <a:rPr lang="uk-UA" sz="800" dirty="0"/>
              <a:t>протокол </a:t>
            </a:r>
            <a:r>
              <a:rPr lang="en-US" sz="800" dirty="0"/>
              <a:t>PostgreSQL </a:t>
            </a:r>
            <a:r>
              <a:rPr lang="uk-UA" sz="800" dirty="0"/>
              <a:t>замість </a:t>
            </a:r>
            <a:r>
              <a:rPr lang="en-US" sz="800" dirty="0"/>
              <a:t>N </a:t>
            </a:r>
            <a:r>
              <a:rPr lang="uk-UA" sz="800" dirty="0"/>
              <a:t>окремих </a:t>
            </a:r>
            <a:r>
              <a:rPr lang="en-US" sz="800" dirty="0"/>
              <a:t>INSERT;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800" dirty="0"/>
              <a:t>прискорення у 3.7–4.3 рази, скорочення алокацій у 40 разів.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800" dirty="0"/>
              <a:t>No-Tracking Queries — </a:t>
            </a:r>
            <a:r>
              <a:rPr lang="uk-UA" sz="800" dirty="0"/>
              <a:t>для </a:t>
            </a:r>
            <a:r>
              <a:rPr lang="en-US" sz="800" dirty="0"/>
              <a:t>read-only </a:t>
            </a:r>
            <a:r>
              <a:rPr lang="uk-UA" sz="800" dirty="0"/>
              <a:t>аналітики: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800" dirty="0"/>
              <a:t>кредитний </a:t>
            </a:r>
            <a:r>
              <a:rPr lang="uk-UA" sz="800" dirty="0" err="1"/>
              <a:t>скоринг</a:t>
            </a:r>
            <a:r>
              <a:rPr lang="uk-UA" sz="800" dirty="0"/>
              <a:t>, </a:t>
            </a:r>
            <a:r>
              <a:rPr lang="en-US" sz="800" dirty="0"/>
              <a:t>Portfolio </a:t>
            </a:r>
            <a:r>
              <a:rPr lang="en-US" sz="800" dirty="0" err="1"/>
              <a:t>VaR</a:t>
            </a:r>
            <a:r>
              <a:rPr lang="en-US" sz="800" dirty="0"/>
              <a:t> </a:t>
            </a:r>
            <a:r>
              <a:rPr lang="uk-UA" sz="800" dirty="0"/>
              <a:t>та інші запити без модифікації стану;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800" dirty="0"/>
              <a:t>скорочення споживання пам'яті на 22–34% порівняно з </a:t>
            </a:r>
            <a:r>
              <a:rPr lang="en-US" sz="800" dirty="0"/>
              <a:t>Change Tracking;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800" dirty="0"/>
              <a:t>ефект особливо відчутний для </a:t>
            </a:r>
            <a:r>
              <a:rPr lang="en-US" sz="800" dirty="0" err="1"/>
              <a:t>VaR</a:t>
            </a:r>
            <a:r>
              <a:rPr lang="en-US" sz="800" dirty="0"/>
              <a:t>, </a:t>
            </a:r>
            <a:r>
              <a:rPr lang="uk-UA" sz="800" dirty="0"/>
              <a:t>де відстеження об'єктів є повністю зайвим.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800" dirty="0"/>
              <a:t>Raw SQL </a:t>
            </a:r>
            <a:r>
              <a:rPr lang="uk-UA" sz="800" dirty="0"/>
              <a:t>через </a:t>
            </a:r>
            <a:r>
              <a:rPr lang="en-US" sz="800" dirty="0"/>
              <a:t>Dapper — </a:t>
            </a:r>
            <a:r>
              <a:rPr lang="uk-UA" sz="800" dirty="0"/>
              <a:t>для складних аналітичних запитів: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800" dirty="0"/>
              <a:t>виявлення шахрайства (</a:t>
            </a:r>
            <a:r>
              <a:rPr lang="en-US" sz="800" dirty="0"/>
              <a:t>self-join </a:t>
            </a:r>
            <a:r>
              <a:rPr lang="uk-UA" sz="800" dirty="0"/>
              <a:t>недоступний у </a:t>
            </a:r>
            <a:r>
              <a:rPr lang="en-US" sz="800" dirty="0"/>
              <a:t>LINQ; real-time </a:t>
            </a:r>
            <a:r>
              <a:rPr lang="uk-UA" sz="800" dirty="0"/>
              <a:t>вимога — без </a:t>
            </a:r>
            <a:r>
              <a:rPr lang="uk-UA" sz="800" dirty="0" err="1"/>
              <a:t>кешування</a:t>
            </a:r>
            <a:r>
              <a:rPr lang="uk-UA" sz="800" dirty="0"/>
              <a:t>);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800" dirty="0"/>
              <a:t>найменші алокації пам'яті у всіх сценаріях (до −81% для </a:t>
            </a:r>
            <a:r>
              <a:rPr lang="uk-UA" sz="800" dirty="0" err="1"/>
              <a:t>скорингу</a:t>
            </a:r>
            <a:r>
              <a:rPr lang="uk-UA" sz="800" dirty="0"/>
              <a:t>, −78% для </a:t>
            </a:r>
            <a:r>
              <a:rPr lang="en-US" sz="800" dirty="0" err="1"/>
              <a:t>VaR</a:t>
            </a:r>
            <a:r>
              <a:rPr lang="en-US" sz="800" dirty="0"/>
              <a:t>);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800" dirty="0"/>
              <a:t>найвища стабільність під навантаженням (</a:t>
            </a:r>
            <a:r>
              <a:rPr lang="en-US" sz="800" dirty="0" err="1"/>
              <a:t>StdDev</a:t>
            </a:r>
            <a:r>
              <a:rPr lang="en-US" sz="800" dirty="0"/>
              <a:t> </a:t>
            </a:r>
            <a:r>
              <a:rPr lang="uk-UA" sz="800" dirty="0"/>
              <a:t>затримки у 2.2 рази нижче).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1D6697-5F02-F00E-C525-1BD609F01DFB}"/>
              </a:ext>
            </a:extLst>
          </p:cNvPr>
          <p:cNvSpPr txBox="1"/>
          <p:nvPr/>
        </p:nvSpPr>
        <p:spPr>
          <a:xfrm>
            <a:off x="5212081" y="863200"/>
            <a:ext cx="387373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Compiled Queries — </a:t>
            </a: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 повторюваних </a:t>
            </a: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LINQ-</a:t>
            </a: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запитів:</a:t>
            </a:r>
          </a:p>
          <a:p>
            <a:pPr marL="2857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кредитний </a:t>
            </a:r>
            <a:r>
              <a:rPr lang="uk-UA" sz="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скоринг</a:t>
            </a: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(перший запит): повторюваний складний запит з </a:t>
            </a: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server-side GROUP BY;</a:t>
            </a:r>
          </a:p>
          <a:p>
            <a:pPr marL="2857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прискорення до 13% за часом та скорочення алокацій до 63% (з 38.9 </a:t>
            </a: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KB </a:t>
            </a: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 14.4 </a:t>
            </a: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KB);</a:t>
            </a:r>
          </a:p>
          <a:p>
            <a:pPr marL="2857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одноразова трансляція виразного дерева у </a:t>
            </a: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SQL.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Caching (Decorator) — </a:t>
            </a: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 стабільних у часі результатів:</a:t>
            </a:r>
          </a:p>
          <a:p>
            <a:pPr marL="2857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кредитний </a:t>
            </a:r>
            <a:r>
              <a:rPr lang="uk-UA" sz="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скоринг</a:t>
            </a: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(повторний) — </a:t>
            </a: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Redis, TTL 30 </a:t>
            </a: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хв; </a:t>
            </a:r>
            <a:r>
              <a:rPr lang="en-US" sz="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VaR</a:t>
            </a: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повторний) — </a:t>
            </a:r>
            <a:r>
              <a:rPr lang="en-US" sz="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MemoryCache</a:t>
            </a: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TTL 1 </a:t>
            </a: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год;</a:t>
            </a:r>
          </a:p>
          <a:p>
            <a:pPr marL="2857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прискорення у 122–1590 разів при </a:t>
            </a: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cache hit;</a:t>
            </a:r>
          </a:p>
          <a:p>
            <a:pPr marL="2857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перший виклик (</a:t>
            </a: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cache miss) </a:t>
            </a: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є дорожчим за </a:t>
            </a:r>
            <a:r>
              <a:rPr lang="uk-UA" sz="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некешовані</a:t>
            </a: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методи через серіалізацію.</a:t>
            </a:r>
          </a:p>
          <a:p>
            <a:pPr marL="114300" indent="0">
              <a:lnSpc>
                <a:spcPct val="150000"/>
              </a:lnSpc>
              <a:buNone/>
            </a:pP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Eager Loading / Split Query — </a:t>
            </a: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 завантаження пов'язаних колекцій:</a:t>
            </a:r>
          </a:p>
          <a:p>
            <a:pPr marL="2857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одна колекція → </a:t>
            </a: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Include (</a:t>
            </a: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один </a:t>
            </a: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JOIN, </a:t>
            </a: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уникнення </a:t>
            </a: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N+1);</a:t>
            </a:r>
          </a:p>
          <a:p>
            <a:pPr marL="2857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кілька колекцій → </a:t>
            </a:r>
            <a:r>
              <a:rPr lang="en-US" sz="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SplitQuery</a:t>
            </a: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lang="uk-UA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уникнення </a:t>
            </a:r>
            <a:r>
              <a:rPr lang="en-US" sz="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Cartesian product).</a:t>
            </a:r>
          </a:p>
          <a:p>
            <a:pPr marL="114300" indent="0">
              <a:buNone/>
            </a:pPr>
            <a:endParaRPr lang="uk-UA" sz="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5C505-9601-A2A1-6EF4-2D63ECD4653C}"/>
              </a:ext>
            </a:extLst>
          </p:cNvPr>
          <p:cNvSpPr txBox="1"/>
          <p:nvPr/>
        </p:nvSpPr>
        <p:spPr>
          <a:xfrm>
            <a:off x="700050" y="3780519"/>
            <a:ext cx="663635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Загальний принцип: починати з найпростішого підходу (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AsNoTracking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+ Include) </a:t>
            </a:r>
            <a:r>
              <a:rPr lang="uk-UA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 переходити до складніших методів (</a:t>
            </a:r>
            <a:r>
              <a:rPr lang="en-US" sz="9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SplitQuery</a:t>
            </a:r>
            <a:r>
              <a:rPr lang="en-US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Raw SQL) </a:t>
            </a:r>
            <a:r>
              <a:rPr lang="uk-UA" sz="9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лише за наявності вимірюваної деградації продуктивності.</a:t>
            </a:r>
          </a:p>
          <a:p>
            <a:endParaRPr lang="en-US" sz="9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872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4827" y="31900"/>
            <a:ext cx="8520600" cy="831300"/>
          </a:xfrm>
        </p:spPr>
        <p:txBody>
          <a:bodyPr>
            <a:normAutofit/>
          </a:bodyPr>
          <a:lstStyle/>
          <a:p>
            <a:pPr algn="ctr"/>
            <a:r>
              <a:rPr lang="uk-UA" sz="3200" dirty="0"/>
              <a:t>Публікація результатів</a:t>
            </a:r>
            <a:endParaRPr lang="en-US" sz="320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92859" y="1085306"/>
            <a:ext cx="4432355" cy="3354000"/>
          </a:xfrm>
        </p:spPr>
        <p:txBody>
          <a:bodyPr>
            <a:normAutofit/>
          </a:bodyPr>
          <a:lstStyle/>
          <a:p>
            <a:r>
              <a:rPr lang="uk-UA" sz="1200" dirty="0"/>
              <a:t>Основні наукові та практичні результати кваліфікаційної роботи пройшли апробацію та прийняті до друку у фаховому виданні: «</a:t>
            </a:r>
            <a:r>
              <a:rPr lang="en-US" sz="1200" dirty="0"/>
              <a:t>Information Technology: Computer Science, Software Engineering and Cyber Security»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7B8E2C-269B-54C0-0B2F-4E26D1904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41" y="1085306"/>
            <a:ext cx="2625591" cy="372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072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700" y="86683"/>
            <a:ext cx="8520600" cy="696099"/>
          </a:xfrm>
        </p:spPr>
        <p:txBody>
          <a:bodyPr>
            <a:normAutofit/>
          </a:bodyPr>
          <a:lstStyle/>
          <a:p>
            <a:pPr algn="ctr"/>
            <a:r>
              <a:rPr lang="ru-RU" sz="3200" dirty="0" err="1"/>
              <a:t>Висновки</a:t>
            </a:r>
            <a:endParaRPr lang="en-US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u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64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24E34570-2626-0501-3AE0-4D03381AA4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77866" y="650792"/>
            <a:ext cx="8597209" cy="3708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Проведено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аналіз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предметної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галузі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високонавантажених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систем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систематичний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огляд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методів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оптимізації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EF Core;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ідентифіковано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шість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основних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класів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проблем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продуктивності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методи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їх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вирішення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Виконано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багатокритеріальний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аналіз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методів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допомогою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лінійної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адитивної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згортки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принципу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Парето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побудовано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теоретичний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ранжир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Bulk Operations (Z = 0.834), No-Tracking (Z = 0.809), Raw SQL (Z = 0.739), Compiled Queries (Z = 0.643), Caching (Z = 0.477).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Розроблено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архітектуру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системи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EFCoreBenchmark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із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сімома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реалізаціями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єдиного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інтерфейсу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IFinancialRepository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фінансовій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предметній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області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дев'яти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сутностей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Проведено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мікробенчмарки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BenchmarkDotNet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навантажувальне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тестування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NBomber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чотирьох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бізнес-сценаріїв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трьох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рівнях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параметризації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Кількісно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підтверджено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ефективність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методів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Bulk Operations —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прискорення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3.7–4.3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рази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скорочення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алокацій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40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разів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кешування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—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122–1590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разів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cache hit; Raw SQL —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найменші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алокації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(−81%)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найвища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стабільність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під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навантаженням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Виявлено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контекстно-залежні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відхилення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теоретичного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ранжиру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ефективність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Raw SQL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для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fraud detection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залежить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розміру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часового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вікна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перевага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N+1-підходу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мікробенчмарках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є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артефактом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малого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набору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даних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нівелюється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під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навантаженням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Сформульовано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рекомендації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щодо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вибору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методу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залежно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від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характеру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навантаження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;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результати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оприлюднено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статті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прийнятій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друку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у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фаховому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виданні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«Information Technology: Computer Science, Software Engineering and Cyber Security».</a:t>
            </a:r>
          </a:p>
        </p:txBody>
      </p:sp>
    </p:spTree>
    <p:extLst>
      <p:ext uri="{BB962C8B-B14F-4D97-AF65-F5344CB8AC3E}">
        <p14:creationId xmlns:p14="http://schemas.microsoft.com/office/powerpoint/2010/main" val="315111644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" id="{8855F006-6CF5-45ED-AA32-6AF957134D8E}" vid="{33ABB0F5-E717-4DBC-A680-0765548A066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</Template>
  <TotalTime>1049</TotalTime>
  <Words>2352</Words>
  <Application>Microsoft Macintosh PowerPoint</Application>
  <PresentationFormat>On-screen Show (16:9)</PresentationFormat>
  <Paragraphs>462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Open Sans</vt:lpstr>
      <vt:lpstr>Arial</vt:lpstr>
      <vt:lpstr>Calibri</vt:lpstr>
      <vt:lpstr>Economica</vt:lpstr>
      <vt:lpstr>Aptos</vt:lpstr>
      <vt:lpstr>Times New Roman</vt:lpstr>
      <vt:lpstr>Тема</vt:lpstr>
      <vt:lpstr>Дослідження методів оптимізації доступу до даних у високонавантажених інформаційних системах на базі Entity Framework Core </vt:lpstr>
      <vt:lpstr>Актуальність дослідження</vt:lpstr>
      <vt:lpstr>Мета та завдання роботи</vt:lpstr>
      <vt:lpstr>Аналіз методів оптимізації Entity Framework Core</vt:lpstr>
      <vt:lpstr>Моделювання предметної області</vt:lpstr>
      <vt:lpstr>Постановка задачі та вимоги до системи</vt:lpstr>
      <vt:lpstr>Багатокритеріальний аналіз (Теоретичний рейтинг)</vt:lpstr>
      <vt:lpstr>Архітектура програмного забезпечення</vt:lpstr>
      <vt:lpstr>Реалізація методів оптимізації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Рекомендації щодо вибору методу</vt:lpstr>
      <vt:lpstr>Публікація результатів</vt:lpstr>
      <vt:lpstr>Висновки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Evgen</dc:creator>
  <cp:lastModifiedBy>Nikita Melnichenko</cp:lastModifiedBy>
  <cp:revision>25</cp:revision>
  <dcterms:created xsi:type="dcterms:W3CDTF">2026-05-03T23:16:54Z</dcterms:created>
  <dcterms:modified xsi:type="dcterms:W3CDTF">2026-05-12T09:04:35Z</dcterms:modified>
</cp:coreProperties>
</file>